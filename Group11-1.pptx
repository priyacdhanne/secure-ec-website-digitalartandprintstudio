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82" r:id="rId2"/>
    <p:sldId id="285" r:id="rId3"/>
    <p:sldId id="258" r:id="rId4"/>
    <p:sldId id="259" r:id="rId5"/>
    <p:sldId id="260" r:id="rId6"/>
    <p:sldId id="268" r:id="rId7"/>
    <p:sldId id="261" r:id="rId8"/>
    <p:sldId id="262" r:id="rId9"/>
    <p:sldId id="286" r:id="rId10"/>
    <p:sldId id="287" r:id="rId11"/>
    <p:sldId id="289" r:id="rId12"/>
    <p:sldId id="265" r:id="rId13"/>
    <p:sldId id="266" r:id="rId14"/>
    <p:sldId id="267" r:id="rId15"/>
    <p:sldId id="288" r:id="rId16"/>
    <p:sldId id="27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60A7B5-274E-0206-366B-07D45D6FD90E}" v="3" dt="2026-04-28T16:17:14.158"/>
    <p1510:client id="{5293B0F7-4DE6-A055-C92C-862E36253033}" v="756" dt="2026-04-29T03:51:50.467"/>
    <p1510:client id="{6A65E39A-C112-ECEB-92E7-280F1B660197}" v="67" dt="2026-04-28T05:04:06.667"/>
    <p1510:client id="{CAEDDA98-F2FB-2414-4438-385676D2FB2A}" v="8" dt="2026-04-28T06:03:00.486"/>
    <p1510:client id="{D949D60B-CDA1-4B44-BDE4-B36FD96504F1}" v="765" dt="2026-04-29T03:19:54.8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D288C1-4F44-42A3-A113-76538B2FE5D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0F9B7-C8EA-4DBB-9C17-AC843833A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776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3528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368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112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3848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847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6242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8656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6146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0229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2004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0691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6683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4132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5330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93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DB85E-535E-78F5-B894-A2F24FFC8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2104CF-8873-DC47-D2CF-B1E49D522A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455D3-CC47-5260-900C-8722E9F89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DE2B5-3ED6-4E28-A568-0F49962AB00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6D2CC-818D-19A1-B76E-EFE105DCB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087C3-D38F-70C3-8E2B-B7BB0AF45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74F-F9DC-4320-B897-EB0E83723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937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14C96-01E1-8BFB-9362-F1CF78DEF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EFBE5-AE2A-88AE-BF1E-F72C7251C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9E938-3FBE-8E94-50B5-FD26AADEA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DE2B5-3ED6-4E28-A568-0F49962AB00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89715-0E26-4C36-E3DB-389B72F9B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54D71-7573-E21D-6E15-8422A52DD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74F-F9DC-4320-B897-EB0E83723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37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EDA92-6D56-92D2-42E4-27E3143F9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39EEF-B06B-3906-9058-A39B4FA08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24C3C-D684-AFB8-B707-0A4D32037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DE2B5-3ED6-4E28-A568-0F49962AB00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7F754-AD11-8EC1-A467-8515E123E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1D82F-E506-0C38-8636-B912F8F39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74F-F9DC-4320-B897-EB0E83723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475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82BF0-8B9E-71E3-9E6E-3FED10066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707F4-84D0-5AB9-CB3C-A0897FF614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22E26C-19D5-9994-85CA-D6C4560A55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1A491-D17A-C998-0BC6-1FAFCE46C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DE2B5-3ED6-4E28-A568-0F49962AB00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F85663-DD8F-13A7-CEF9-7C8E312A8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34627-8E4A-B2F4-D01B-122DBC75A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74F-F9DC-4320-B897-EB0E83723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750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EE947-9856-4E61-B6FC-3C8371D2B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6CACB-C7A4-8F25-D159-AC02A456B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813523-271F-1EFC-341B-D44BF6B9F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5E1D74-62C0-EC99-8513-CB4E972420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B736D-5E1A-CD44-F537-931CEA96CC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D82D55-B8C4-1B6A-22DB-EFD4F3295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DE2B5-3ED6-4E28-A568-0F49962AB00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169FAF-9D7B-EBEB-E41F-3B478FA61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F4488C-96B0-0752-A927-B5B448B51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74F-F9DC-4320-B897-EB0E83723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778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80E5C-2D26-9D7B-8F33-800A70089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0DB850-B4E6-E068-49BB-D62EC24F7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DE2B5-3ED6-4E28-A568-0F49962AB00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7A7693-4779-6848-3843-B3152510B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A334A-19C8-0BA3-DE45-B95C0C1F2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74F-F9DC-4320-B897-EB0E83723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7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A14B96-3EBA-7C15-1C8D-657FFF549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DE2B5-3ED6-4E28-A568-0F49962AB00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6CA57B-D49D-FD3E-65A5-7A02BFDC3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65549-DB54-1551-5579-17B6B6E88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74F-F9DC-4320-B897-EB0E83723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235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281A5-3CB9-17EE-B31C-E0461EEE3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0E13D-84D4-F40E-004A-6D1E04A2A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9BFD3-0B70-D3A6-F119-D2E195D304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3000B-17A1-9CD6-470D-80F373BFB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DE2B5-3ED6-4E28-A568-0F49962AB00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165E69-F536-EAEB-2DC8-37880CE62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67AB8-89C5-E32F-C725-CF30C26A8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74F-F9DC-4320-B897-EB0E83723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662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35960-9C3C-ACFB-0DB6-65E4360DC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DB79FB-38CF-3427-D850-F10166DC43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CC7BBB-BFBD-7AD4-9852-A1EC8E117E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FF748-E583-5EA7-F13B-47F6BFCD5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DE2B5-3ED6-4E28-A568-0F49962AB00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657721-6576-4696-D9D3-7D2F04F45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9405F2-A82D-8659-D221-FB637287D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74F-F9DC-4320-B897-EB0E83723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0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6B2CB-506A-9D60-6477-5340C360C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36463E-DD77-549D-53A9-E6EA4BEFDB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2ECC5-4146-FE37-95CD-61385B72B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DE2B5-3ED6-4E28-A568-0F49962AB00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96922-19AB-FBFB-1D3E-C8AEFDBAA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AF02D-23E1-1557-A024-D22602560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74F-F9DC-4320-B897-EB0E83723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74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3148C8-6F47-654E-EF6A-44E75913FD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2EDF86-4F8D-72A9-7E35-3F738658D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5982D-8EFB-44A5-F92E-CA7204FF1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DE2B5-3ED6-4E28-A568-0F49962AB00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A141E-5B72-FA13-E240-2DB62D914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99B93-B763-4022-A625-A5CAD68AF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74F-F9DC-4320-B897-EB0E83723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012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8482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7AC039-938E-B063-CDFB-5B0C40078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1706B-84F9-69FB-E142-8943B8996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8FBF9-470C-1E97-A124-0DC06BE299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EDE2B5-3ED6-4E28-A568-0F49962AB00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9F93D-D62F-A905-2E59-967FCA21A3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7B024-A9A5-C299-EB8D-EA99F92FB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99174F-F9DC-4320-B897-EB0E83723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048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2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owasp.org/www-project-top-ten/" TargetMode="External"/><Relationship Id="rId3" Type="http://schemas.openxmlformats.org/officeDocument/2006/relationships/hyperlink" Target="https://wordpress.org/support/article/hardening-wordpress/" TargetMode="External"/><Relationship Id="rId7" Type="http://schemas.openxmlformats.org/officeDocument/2006/relationships/hyperlink" Target="https://wp-2fa.com/documentation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wordfence.com/help/" TargetMode="External"/><Relationship Id="rId5" Type="http://schemas.openxmlformats.org/officeDocument/2006/relationships/hyperlink" Target="https://www.zaproxy.org/docs/" TargetMode="External"/><Relationship Id="rId4" Type="http://schemas.openxmlformats.org/officeDocument/2006/relationships/hyperlink" Target="https://woocommerce.com/document/" TargetMode="External"/><Relationship Id="rId9" Type="http://schemas.openxmlformats.org/officeDocument/2006/relationships/hyperlink" Target="https://forum.infinityfree.com/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509760" y="-1463040"/>
            <a:ext cx="4876800" cy="4876800"/>
          </a:xfrm>
          <a:prstGeom prst="ellipse">
            <a:avLst/>
          </a:prstGeom>
          <a:solidFill>
            <a:srgbClr val="162840">
              <a:alpha val="60000"/>
            </a:srgbClr>
          </a:solidFill>
          <a:ln w="12700">
            <a:solidFill>
              <a:srgbClr val="16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119360" y="-975360"/>
            <a:ext cx="3657600" cy="3657600"/>
          </a:xfrm>
          <a:prstGeom prst="ellipse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70560"/>
            <a:ext cx="792480" cy="792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600" y="1645920"/>
            <a:ext cx="2804160" cy="365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09600" y="164592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0D1B2A"/>
                </a:solidFill>
              </a:rPr>
              <a:t>CSCE 4560 / 5560</a:t>
            </a:r>
            <a:endParaRPr lang="en-US" sz="1333"/>
          </a:p>
        </p:txBody>
      </p:sp>
      <p:sp>
        <p:nvSpPr>
          <p:cNvPr id="8" name="Text 5"/>
          <p:cNvSpPr/>
          <p:nvPr/>
        </p:nvSpPr>
        <p:spPr>
          <a:xfrm>
            <a:off x="609600" y="2346960"/>
            <a:ext cx="10172281" cy="2139696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6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Art &amp;</a:t>
            </a:r>
            <a:endParaRPr lang="en-US" sz="6933"/>
          </a:p>
          <a:p>
            <a:pPr>
              <a:lnSpc>
                <a:spcPct val="110000"/>
              </a:lnSpc>
            </a:pPr>
            <a:r>
              <a:rPr lang="en-US" sz="6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Store</a:t>
            </a:r>
            <a:endParaRPr lang="en-US" sz="6933"/>
          </a:p>
        </p:txBody>
      </p:sp>
      <p:sp>
        <p:nvSpPr>
          <p:cNvPr id="9" name="Text 6"/>
          <p:cNvSpPr/>
          <p:nvPr/>
        </p:nvSpPr>
        <p:spPr>
          <a:xfrm>
            <a:off x="609600" y="4511040"/>
            <a:ext cx="8534400" cy="54864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r>
              <a:rPr lang="en-US" sz="2667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E-Commerce Platform</a:t>
            </a:r>
            <a:endParaRPr lang="en-US" sz="2667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609600" y="5242560"/>
            <a:ext cx="10972800" cy="4267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r>
              <a:rPr lang="en-US" sz="16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Denish Adhikari  ·  Garrick McCuller ·  Priya </a:t>
            </a:r>
            <a:r>
              <a:rPr lang="en-US" sz="160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Dhanne</a:t>
            </a:r>
            <a:r>
              <a:rPr lang="en-US" sz="16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60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Jeshnavi</a:t>
            </a:r>
            <a:r>
              <a:rPr lang="en-US" sz="16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Sri Kavitha </a:t>
            </a:r>
            <a:r>
              <a:rPr lang="en-US" sz="160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Dakamarri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0" y="6425184"/>
            <a:ext cx="12192000" cy="43281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65760" y="6425184"/>
            <a:ext cx="1146048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>
                <a:solidFill>
                  <a:srgbClr val="6A8FAF"/>
                </a:solidFill>
              </a:rPr>
              <a:t> </a:t>
            </a:r>
            <a:r>
              <a:rPr lang="en-US" sz="1333">
                <a:solidFill>
                  <a:schemeClr val="bg1"/>
                </a:solidFill>
              </a:rPr>
              <a:t>Spring 2026</a:t>
            </a:r>
          </a:p>
        </p:txBody>
      </p:sp>
    </p:spTree>
    <p:extLst>
      <p:ext uri="{BB962C8B-B14F-4D97-AF65-F5344CB8AC3E}">
        <p14:creationId xmlns:p14="http://schemas.microsoft.com/office/powerpoint/2010/main" val="1728940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43840"/>
            <a:ext cx="12192000" cy="73152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</a:rPr>
              <a:t>Introduction</a:t>
            </a:r>
            <a:endParaRPr lang="en-US" sz="2933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3564" y="1225296"/>
            <a:ext cx="1219200" cy="121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1341120"/>
            <a:ext cx="10144924" cy="999744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365760" y="1341120"/>
            <a:ext cx="97536" cy="999744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" y="1560576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02080" y="1414272"/>
            <a:ext cx="14630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chemeClr val="bg1"/>
                </a:solidFill>
              </a:rPr>
              <a:t>PLATFORM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1402080" y="1706880"/>
            <a:ext cx="90220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WordPress-based </a:t>
            </a:r>
            <a:r>
              <a:rPr lang="en-US" sz="1733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</a:t>
            </a:r>
            <a:r>
              <a:rPr lang="en-US" sz="1733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website</a:t>
            </a:r>
            <a:endParaRPr lang="en-US" sz="1733" dirty="0"/>
          </a:p>
        </p:txBody>
      </p:sp>
      <p:sp>
        <p:nvSpPr>
          <p:cNvPr id="9" name="Shape 5"/>
          <p:cNvSpPr/>
          <p:nvPr/>
        </p:nvSpPr>
        <p:spPr>
          <a:xfrm>
            <a:off x="365760" y="2560320"/>
            <a:ext cx="10155543" cy="999744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365760" y="2560320"/>
            <a:ext cx="97536" cy="999744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" y="2779776"/>
            <a:ext cx="548640" cy="548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02080" y="2633472"/>
            <a:ext cx="14630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chemeClr val="bg1"/>
                </a:solidFill>
              </a:rPr>
              <a:t>HOSTING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3" name="Text 8"/>
          <p:cNvSpPr/>
          <p:nvPr/>
        </p:nvSpPr>
        <p:spPr>
          <a:xfrm>
            <a:off x="1402080" y="2926080"/>
            <a:ext cx="90220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a free platform (InfinityFree / ct.ws)</a:t>
            </a:r>
            <a:endParaRPr lang="en-US" sz="1733" dirty="0"/>
          </a:p>
        </p:txBody>
      </p:sp>
      <p:sp>
        <p:nvSpPr>
          <p:cNvPr id="14" name="Shape 9"/>
          <p:cNvSpPr/>
          <p:nvPr/>
        </p:nvSpPr>
        <p:spPr>
          <a:xfrm>
            <a:off x="375592" y="3779520"/>
            <a:ext cx="10155543" cy="999744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365760" y="3779520"/>
            <a:ext cx="97536" cy="999744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60" y="3998976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02080" y="3852672"/>
            <a:ext cx="14630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chemeClr val="bg1"/>
                </a:solidFill>
              </a:rPr>
              <a:t>PLUGINS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402080" y="4145280"/>
            <a:ext cx="90220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plugins for enhanced functionality and security</a:t>
            </a:r>
            <a:endParaRPr lang="en-US" sz="1733" dirty="0"/>
          </a:p>
        </p:txBody>
      </p:sp>
      <p:sp>
        <p:nvSpPr>
          <p:cNvPr id="19" name="Shape 13"/>
          <p:cNvSpPr/>
          <p:nvPr/>
        </p:nvSpPr>
        <p:spPr>
          <a:xfrm>
            <a:off x="365760" y="4998720"/>
            <a:ext cx="10175207" cy="999744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365760" y="4998720"/>
            <a:ext cx="97536" cy="999744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560" y="5218176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02080" y="5071872"/>
            <a:ext cx="14630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chemeClr val="bg1"/>
                </a:solidFill>
              </a:rPr>
              <a:t>FOCUS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23" name="Text 16"/>
          <p:cNvSpPr/>
          <p:nvPr/>
        </p:nvSpPr>
        <p:spPr>
          <a:xfrm>
            <a:off x="1402080" y="5364480"/>
            <a:ext cx="90220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analysis of a real-world web application scenario</a:t>
            </a:r>
            <a:endParaRPr lang="en-US" sz="1733" dirty="0"/>
          </a:p>
        </p:txBody>
      </p:sp>
    </p:spTree>
    <p:extLst>
      <p:ext uri="{BB962C8B-B14F-4D97-AF65-F5344CB8AC3E}">
        <p14:creationId xmlns:p14="http://schemas.microsoft.com/office/powerpoint/2010/main" val="2009657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43840"/>
            <a:ext cx="12192000" cy="829056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</a:rPr>
              <a:t>Problem Statement</a:t>
            </a:r>
            <a:endParaRPr lang="en-US" sz="2933" dirty="0"/>
          </a:p>
        </p:txBody>
      </p:sp>
      <p:sp>
        <p:nvSpPr>
          <p:cNvPr id="4" name="Text 1"/>
          <p:cNvSpPr/>
          <p:nvPr/>
        </p:nvSpPr>
        <p:spPr>
          <a:xfrm>
            <a:off x="487680" y="1280160"/>
            <a:ext cx="9753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Vulnerabilities Analyzed</a:t>
            </a:r>
            <a:endParaRPr lang="en-US" sz="1867" dirty="0"/>
          </a:p>
        </p:txBody>
      </p:sp>
      <p:sp>
        <p:nvSpPr>
          <p:cNvPr id="5" name="Shape 2"/>
          <p:cNvSpPr/>
          <p:nvPr/>
        </p:nvSpPr>
        <p:spPr>
          <a:xfrm>
            <a:off x="365760" y="1767840"/>
            <a:ext cx="10241280" cy="877824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65760" y="1767840"/>
            <a:ext cx="97536" cy="877824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09600" y="1889760"/>
            <a:ext cx="426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4757"/>
                </a:solidFill>
              </a:rPr>
              <a:t>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15824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FFFFF"/>
                </a:solidFill>
              </a:rPr>
              <a:t>Security Misconfigurations</a:t>
            </a:r>
            <a:endParaRPr lang="en-US" sz="1867" dirty="0"/>
          </a:p>
        </p:txBody>
      </p:sp>
      <p:sp>
        <p:nvSpPr>
          <p:cNvPr id="9" name="Text 6"/>
          <p:cNvSpPr/>
          <p:nvPr/>
        </p:nvSpPr>
        <p:spPr>
          <a:xfrm>
            <a:off x="1158240" y="2194560"/>
            <a:ext cx="9509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B8D4E8"/>
                </a:solidFill>
              </a:rPr>
              <a:t>Improper server/app settings expose attack surfaces</a:t>
            </a:r>
            <a:endParaRPr lang="en-US" sz="1533" dirty="0"/>
          </a:p>
        </p:txBody>
      </p:sp>
      <p:sp>
        <p:nvSpPr>
          <p:cNvPr id="10" name="Shape 7"/>
          <p:cNvSpPr/>
          <p:nvPr/>
        </p:nvSpPr>
        <p:spPr>
          <a:xfrm>
            <a:off x="365760" y="2804160"/>
            <a:ext cx="10241280" cy="877824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65760" y="2804160"/>
            <a:ext cx="97536" cy="877824"/>
          </a:xfrm>
          <a:prstGeom prst="rect">
            <a:avLst/>
          </a:prstGeom>
          <a:solidFill>
            <a:srgbClr val="FFA5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09600" y="2926080"/>
            <a:ext cx="426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A502"/>
                </a:solidFill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158240" y="2865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FFFFF"/>
                </a:solidFill>
              </a:rPr>
              <a:t>Cross-Site Scripting (XSS)</a:t>
            </a:r>
            <a:endParaRPr lang="en-US" sz="1867" dirty="0"/>
          </a:p>
        </p:txBody>
      </p:sp>
      <p:sp>
        <p:nvSpPr>
          <p:cNvPr id="14" name="Text 11"/>
          <p:cNvSpPr/>
          <p:nvPr/>
        </p:nvSpPr>
        <p:spPr>
          <a:xfrm>
            <a:off x="1158240" y="3230880"/>
            <a:ext cx="9509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B8D4E8"/>
                </a:solidFill>
              </a:rPr>
              <a:t>Injected scripts run in victim browsers, stealing data or sessions</a:t>
            </a:r>
            <a:endParaRPr lang="en-US" sz="1533" dirty="0"/>
          </a:p>
        </p:txBody>
      </p:sp>
      <p:sp>
        <p:nvSpPr>
          <p:cNvPr id="15" name="Shape 12"/>
          <p:cNvSpPr/>
          <p:nvPr/>
        </p:nvSpPr>
        <p:spPr>
          <a:xfrm>
            <a:off x="365760" y="3840480"/>
            <a:ext cx="10241280" cy="877824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65760" y="3840480"/>
            <a:ext cx="97536" cy="877824"/>
          </a:xfrm>
          <a:prstGeom prst="rect">
            <a:avLst/>
          </a:prstGeom>
          <a:solidFill>
            <a:srgbClr val="FFA5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09600" y="3962400"/>
            <a:ext cx="426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A502"/>
                </a:solidFill>
              </a:rPr>
              <a:t>3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1158240" y="390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FFFFF"/>
                </a:solidFill>
              </a:rPr>
              <a:t>SQL Injection</a:t>
            </a:r>
            <a:endParaRPr lang="en-US" sz="1867" dirty="0"/>
          </a:p>
        </p:txBody>
      </p:sp>
      <p:sp>
        <p:nvSpPr>
          <p:cNvPr id="19" name="Text 16"/>
          <p:cNvSpPr/>
          <p:nvPr/>
        </p:nvSpPr>
        <p:spPr>
          <a:xfrm>
            <a:off x="1158240" y="4267200"/>
            <a:ext cx="9509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B8D4E8"/>
                </a:solidFill>
              </a:rPr>
              <a:t>Malicious SQL can bypass auth, expose or corrupt database contents</a:t>
            </a:r>
            <a:endParaRPr lang="en-US" sz="1533" dirty="0"/>
          </a:p>
        </p:txBody>
      </p:sp>
      <p:sp>
        <p:nvSpPr>
          <p:cNvPr id="20" name="Shape 17"/>
          <p:cNvSpPr/>
          <p:nvPr/>
        </p:nvSpPr>
        <p:spPr>
          <a:xfrm>
            <a:off x="365760" y="5913120"/>
            <a:ext cx="10972800" cy="609600"/>
          </a:xfrm>
          <a:prstGeom prst="rect">
            <a:avLst/>
          </a:prstGeom>
          <a:solidFill>
            <a:srgbClr val="1A3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09600" y="5913120"/>
            <a:ext cx="107289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FFA502"/>
                </a:solidFill>
              </a:rPr>
              <a:t>⚠  Free hosting environments inherently increase risk — paid/secure hosting is recommended for production.</a:t>
            </a:r>
            <a:endParaRPr lang="en-US" sz="1467" dirty="0"/>
          </a:p>
        </p:txBody>
      </p:sp>
    </p:spTree>
    <p:extLst>
      <p:ext uri="{BB962C8B-B14F-4D97-AF65-F5344CB8AC3E}">
        <p14:creationId xmlns:p14="http://schemas.microsoft.com/office/powerpoint/2010/main" val="1309655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43840"/>
            <a:ext cx="12192000" cy="73152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</a:rPr>
              <a:t>Project Objectives</a:t>
            </a:r>
            <a:endParaRPr lang="en-US" sz="2933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5486400" cy="225552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5486400" cy="97536"/>
          </a:xfrm>
          <a:prstGeom prst="rect">
            <a:avLst/>
          </a:prstGeom>
          <a:solidFill>
            <a:srgbClr val="00FF9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731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0FF9F"/>
                </a:solidFill>
              </a:rPr>
              <a:t>01</a:t>
            </a:r>
            <a:endParaRPr lang="en-US" sz="2933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720" y="1463040"/>
            <a:ext cx="609600" cy="609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072640"/>
            <a:ext cx="4998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</a:rPr>
              <a:t>Build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2474976"/>
            <a:ext cx="49987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B8D4E8"/>
                </a:solidFill>
              </a:rPr>
              <a:t>Develop a functional</a:t>
            </a:r>
            <a:r>
              <a:rPr lang="en-US" sz="1533">
                <a:solidFill>
                  <a:srgbClr val="B8D4E8"/>
                </a:solidFill>
              </a:rPr>
              <a:t>, secure</a:t>
            </a:r>
            <a:r>
              <a:rPr lang="en-US" sz="1533" dirty="0">
                <a:solidFill>
                  <a:srgbClr val="B8D4E8"/>
                </a:solidFill>
              </a:rPr>
              <a:t> e-commerce website on WordPress</a:t>
            </a:r>
            <a:endParaRPr lang="en-US" sz="1533" dirty="0"/>
          </a:p>
        </p:txBody>
      </p:sp>
      <p:sp>
        <p:nvSpPr>
          <p:cNvPr id="9" name="Shape 6"/>
          <p:cNvSpPr/>
          <p:nvPr/>
        </p:nvSpPr>
        <p:spPr>
          <a:xfrm>
            <a:off x="6278880" y="1280160"/>
            <a:ext cx="5486400" cy="225552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278880" y="1280160"/>
            <a:ext cx="5486400" cy="97536"/>
          </a:xfrm>
          <a:prstGeom prst="rect">
            <a:avLst/>
          </a:prstGeom>
          <a:solidFill>
            <a:srgbClr val="00FF9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61760" y="1463040"/>
            <a:ext cx="731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0FF9F"/>
                </a:solidFill>
              </a:rPr>
              <a:t>02</a:t>
            </a:r>
            <a:endParaRPr lang="en-US" sz="2933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1840" y="1463040"/>
            <a:ext cx="609600" cy="609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61760" y="2072640"/>
            <a:ext cx="4998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</a:rPr>
              <a:t>Identify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461760" y="2474976"/>
            <a:ext cx="49987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B8D4E8"/>
                </a:solidFill>
              </a:rPr>
              <a:t>Discover vulnerabilities using industry-standard security tools</a:t>
            </a:r>
            <a:endParaRPr lang="en-US" sz="1533" dirty="0"/>
          </a:p>
        </p:txBody>
      </p:sp>
      <p:sp>
        <p:nvSpPr>
          <p:cNvPr id="15" name="Shape 11"/>
          <p:cNvSpPr/>
          <p:nvPr/>
        </p:nvSpPr>
        <p:spPr>
          <a:xfrm>
            <a:off x="365760" y="3840480"/>
            <a:ext cx="5486400" cy="225552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65760" y="3840480"/>
            <a:ext cx="5486400" cy="97536"/>
          </a:xfrm>
          <a:prstGeom prst="rect">
            <a:avLst/>
          </a:prstGeom>
          <a:solidFill>
            <a:srgbClr val="00FF9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548640" y="4023360"/>
            <a:ext cx="731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0FF9F"/>
                </a:solidFill>
              </a:rPr>
              <a:t>03</a:t>
            </a:r>
            <a:endParaRPr lang="en-US" sz="2933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8720" y="4023360"/>
            <a:ext cx="609600" cy="609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48640" y="4632960"/>
            <a:ext cx="4998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</a:rPr>
              <a:t>Analyze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548640" y="5035296"/>
            <a:ext cx="49987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B8D4E8"/>
                </a:solidFill>
              </a:rPr>
              <a:t>Evaluate security mechanisms and assess their effectiveness</a:t>
            </a:r>
            <a:endParaRPr lang="en-US" sz="1533" dirty="0"/>
          </a:p>
        </p:txBody>
      </p:sp>
      <p:sp>
        <p:nvSpPr>
          <p:cNvPr id="21" name="Shape 16"/>
          <p:cNvSpPr/>
          <p:nvPr/>
        </p:nvSpPr>
        <p:spPr>
          <a:xfrm>
            <a:off x="6278880" y="3840480"/>
            <a:ext cx="5486400" cy="225552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6278880" y="3840480"/>
            <a:ext cx="5486400" cy="97536"/>
          </a:xfrm>
          <a:prstGeom prst="rect">
            <a:avLst/>
          </a:prstGeom>
          <a:solidFill>
            <a:srgbClr val="00FF9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6461760" y="4023360"/>
            <a:ext cx="731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0FF9F"/>
                </a:solidFill>
              </a:rPr>
              <a:t>04</a:t>
            </a:r>
            <a:endParaRPr lang="en-US" sz="2933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11840" y="4023360"/>
            <a:ext cx="609600" cy="6096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461760" y="4632960"/>
            <a:ext cx="4998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</a:rPr>
              <a:t>Improve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6461760" y="5035296"/>
            <a:ext cx="49987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B8D4E8"/>
                </a:solidFill>
              </a:rPr>
              <a:t>Propose actionable recommendations to harden the application</a:t>
            </a:r>
            <a:endParaRPr lang="en-US" sz="1533" dirty="0"/>
          </a:p>
        </p:txBody>
      </p:sp>
    </p:spTree>
    <p:extLst>
      <p:ext uri="{BB962C8B-B14F-4D97-AF65-F5344CB8AC3E}">
        <p14:creationId xmlns:p14="http://schemas.microsoft.com/office/powerpoint/2010/main" val="404519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43840"/>
            <a:ext cx="12192000" cy="73152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</a:rPr>
              <a:t>System Architecture</a:t>
            </a:r>
            <a:endParaRPr lang="en-US" sz="2933" dirty="0"/>
          </a:p>
        </p:txBody>
      </p:sp>
      <p:sp>
        <p:nvSpPr>
          <p:cNvPr id="3" name="Shape 1"/>
          <p:cNvSpPr/>
          <p:nvPr/>
        </p:nvSpPr>
        <p:spPr>
          <a:xfrm>
            <a:off x="279236" y="1178691"/>
            <a:ext cx="3501464" cy="829056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30468" y="1170432"/>
            <a:ext cx="97536" cy="829056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21062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2156" y="1219200"/>
            <a:ext cx="648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2FF"/>
                </a:solidFill>
              </a:rPr>
              <a:t>CLIENT</a:t>
            </a:r>
            <a:endParaRPr lang="en-US" sz="1467" dirty="0"/>
          </a:p>
        </p:txBody>
      </p:sp>
      <p:sp>
        <p:nvSpPr>
          <p:cNvPr id="7" name="Text 4"/>
          <p:cNvSpPr/>
          <p:nvPr/>
        </p:nvSpPr>
        <p:spPr>
          <a:xfrm>
            <a:off x="952156" y="1548384"/>
            <a:ext cx="855760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B8D4E8"/>
                </a:solidFill>
              </a:rPr>
              <a:t>User Browser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71195" y="1969008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5A8FAA"/>
                </a:solidFill>
              </a:rPr>
              <a:t>↕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28004" y="2220517"/>
            <a:ext cx="3452696" cy="829056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230468" y="2231136"/>
            <a:ext cx="97536" cy="829056"/>
          </a:xfrm>
          <a:prstGeom prst="rect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516" y="2377243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27668" y="2279904"/>
            <a:ext cx="64094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5B8DEF"/>
                </a:solidFill>
              </a:rPr>
              <a:t>WEB SERVER</a:t>
            </a:r>
            <a:endParaRPr lang="en-US" sz="1467" dirty="0"/>
          </a:p>
        </p:txBody>
      </p:sp>
      <p:sp>
        <p:nvSpPr>
          <p:cNvPr id="13" name="Text 9"/>
          <p:cNvSpPr/>
          <p:nvPr/>
        </p:nvSpPr>
        <p:spPr>
          <a:xfrm>
            <a:off x="1027668" y="2609088"/>
            <a:ext cx="848209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B8D4E8"/>
                </a:solidFill>
              </a:rPr>
              <a:t>WordPress Hosting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571195" y="295243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5A8FAA"/>
                </a:solidFill>
              </a:rPr>
              <a:t>↕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328004" y="3230880"/>
            <a:ext cx="3452696" cy="829056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260358" y="3230487"/>
            <a:ext cx="97536" cy="829056"/>
          </a:xfrm>
          <a:prstGeom prst="rect">
            <a:avLst/>
          </a:prstGeom>
          <a:solidFill>
            <a:srgbClr val="00FF9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692" y="3362829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130" y="3340608"/>
            <a:ext cx="62489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FF9F"/>
                </a:solidFill>
              </a:rPr>
              <a:t>APPLICATION LAYER</a:t>
            </a:r>
            <a:endParaRPr lang="en-US" sz="1467" dirty="0"/>
          </a:p>
        </p:txBody>
      </p:sp>
      <p:sp>
        <p:nvSpPr>
          <p:cNvPr id="19" name="Text 14"/>
          <p:cNvSpPr/>
          <p:nvPr/>
        </p:nvSpPr>
        <p:spPr>
          <a:xfrm>
            <a:off x="1188130" y="3669792"/>
            <a:ext cx="832163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B8D4E8"/>
                </a:solidFill>
              </a:rPr>
              <a:t>WordPress + WooCommerce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571195" y="4059936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5A8FAA"/>
                </a:solidFill>
              </a:rPr>
              <a:t>↕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365760" y="4328160"/>
            <a:ext cx="3414940" cy="829056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268224" y="4344678"/>
            <a:ext cx="97536" cy="829056"/>
          </a:xfrm>
          <a:prstGeom prst="rect">
            <a:avLst/>
          </a:prstGeom>
          <a:solidFill>
            <a:srgbClr val="FFA50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680" y="4471907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33856" y="4401312"/>
            <a:ext cx="6303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A502"/>
                </a:solidFill>
              </a:rPr>
              <a:t>DATABASE</a:t>
            </a:r>
            <a:endParaRPr lang="en-US" sz="1467" dirty="0"/>
          </a:p>
        </p:txBody>
      </p:sp>
      <p:sp>
        <p:nvSpPr>
          <p:cNvPr id="25" name="Text 19"/>
          <p:cNvSpPr/>
          <p:nvPr/>
        </p:nvSpPr>
        <p:spPr>
          <a:xfrm>
            <a:off x="1158240" y="4730496"/>
            <a:ext cx="8351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B8D4E8"/>
                </a:solidFill>
              </a:rPr>
              <a:t>MySQL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1571195" y="512064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5A8FAA"/>
                </a:solidFill>
              </a:rPr>
              <a:t>↕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357894" y="5458476"/>
            <a:ext cx="3422806" cy="829056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260358" y="5458476"/>
            <a:ext cx="97536" cy="829056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692" y="5598684"/>
            <a:ext cx="548640" cy="54864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133856" y="5462016"/>
            <a:ext cx="6303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4757"/>
                </a:solidFill>
              </a:rPr>
              <a:t>SECURITY LAYER</a:t>
            </a:r>
            <a:endParaRPr lang="en-US" sz="1467" dirty="0"/>
          </a:p>
        </p:txBody>
      </p:sp>
      <p:sp>
        <p:nvSpPr>
          <p:cNvPr id="31" name="Text 24"/>
          <p:cNvSpPr/>
          <p:nvPr/>
        </p:nvSpPr>
        <p:spPr>
          <a:xfrm>
            <a:off x="1188130" y="5791200"/>
            <a:ext cx="832163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B8D4E8"/>
                </a:solidFill>
              </a:rPr>
              <a:t>Wordfence + Plugins</a:t>
            </a:r>
            <a:endParaRPr lang="en-US" sz="16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B637F163-DE29-52D3-2688-718E455F87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79"/>
          <a:stretch>
            <a:fillRect/>
          </a:stretch>
        </p:blipFill>
        <p:spPr>
          <a:xfrm>
            <a:off x="3774997" y="975361"/>
            <a:ext cx="8411300" cy="5849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082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43840"/>
            <a:ext cx="12192000" cy="73152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</a:rPr>
              <a:t>Data Flow Diagram</a:t>
            </a:r>
            <a:endParaRPr lang="en-US" sz="2933" dirty="0"/>
          </a:p>
        </p:txBody>
      </p:sp>
      <p:sp>
        <p:nvSpPr>
          <p:cNvPr id="7" name="Text 4"/>
          <p:cNvSpPr/>
          <p:nvPr/>
        </p:nvSpPr>
        <p:spPr>
          <a:xfrm>
            <a:off x="2011680" y="1341120"/>
            <a:ext cx="792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FFFFF"/>
                </a:solidFill>
              </a:rPr>
              <a:t>WordPress Documentation</a:t>
            </a:r>
            <a:endParaRPr lang="en-US" sz="1867" dirty="0"/>
          </a:p>
        </p:txBody>
      </p:sp>
      <p:sp>
        <p:nvSpPr>
          <p:cNvPr id="13" name="Text 9"/>
          <p:cNvSpPr/>
          <p:nvPr/>
        </p:nvSpPr>
        <p:spPr>
          <a:xfrm>
            <a:off x="2011680" y="2401824"/>
            <a:ext cx="792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FFFFF"/>
                </a:solidFill>
              </a:rPr>
              <a:t>WooCommerce Documentation</a:t>
            </a:r>
            <a:endParaRPr lang="en-US" sz="1867" dirty="0"/>
          </a:p>
        </p:txBody>
      </p:sp>
      <p:sp>
        <p:nvSpPr>
          <p:cNvPr id="19" name="Text 14"/>
          <p:cNvSpPr/>
          <p:nvPr/>
        </p:nvSpPr>
        <p:spPr>
          <a:xfrm>
            <a:off x="2011680" y="3462528"/>
            <a:ext cx="792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FFFFF"/>
                </a:solidFill>
              </a:rPr>
              <a:t>OWASP ZAP Documentation</a:t>
            </a:r>
            <a:endParaRPr lang="en-US" sz="1867" dirty="0"/>
          </a:p>
        </p:txBody>
      </p:sp>
      <p:sp>
        <p:nvSpPr>
          <p:cNvPr id="25" name="Text 19"/>
          <p:cNvSpPr/>
          <p:nvPr/>
        </p:nvSpPr>
        <p:spPr>
          <a:xfrm>
            <a:off x="2011680" y="4523232"/>
            <a:ext cx="792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FFFFF"/>
                </a:solidFill>
              </a:rPr>
              <a:t>Wordfence Documentation</a:t>
            </a:r>
            <a:endParaRPr lang="en-US" sz="1867" dirty="0"/>
          </a:p>
        </p:txBody>
      </p:sp>
      <p:sp>
        <p:nvSpPr>
          <p:cNvPr id="31" name="Text 24"/>
          <p:cNvSpPr/>
          <p:nvPr/>
        </p:nvSpPr>
        <p:spPr>
          <a:xfrm>
            <a:off x="2011680" y="5583936"/>
            <a:ext cx="792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FFFFF"/>
                </a:solidFill>
              </a:rPr>
              <a:t>OWASP Top 10</a:t>
            </a:r>
            <a:endParaRPr lang="en-US" sz="1867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DAB5649-50B4-E023-88CB-F6267280D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17" y="975360"/>
            <a:ext cx="11759380" cy="588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276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43840"/>
            <a:ext cx="12192000" cy="73152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</a:rPr>
              <a:t>Security Tools Used</a:t>
            </a:r>
            <a:endParaRPr lang="en-US" sz="2933" dirty="0"/>
          </a:p>
        </p:txBody>
      </p:sp>
      <p:sp>
        <p:nvSpPr>
          <p:cNvPr id="3" name="Shape 1"/>
          <p:cNvSpPr/>
          <p:nvPr/>
        </p:nvSpPr>
        <p:spPr>
          <a:xfrm>
            <a:off x="365760" y="1313145"/>
            <a:ext cx="5486400" cy="176784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219200"/>
            <a:ext cx="5486400" cy="97536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79532"/>
            <a:ext cx="670560" cy="670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901440" y="1431558"/>
            <a:ext cx="1828800" cy="365760"/>
          </a:xfrm>
          <a:prstGeom prst="roundRect">
            <a:avLst>
              <a:gd name="adj" fmla="val 26667"/>
            </a:avLst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901439" y="1410680"/>
            <a:ext cx="1828800" cy="334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D1B2A"/>
                </a:solidFill>
              </a:rPr>
              <a:t>Primary Scanner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02080" y="1616025"/>
            <a:ext cx="3413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FFFFFF"/>
                </a:solidFill>
              </a:rPr>
              <a:t>OWASP ZAP</a:t>
            </a:r>
            <a:endParaRPr lang="en-US" sz="2133" dirty="0"/>
          </a:p>
        </p:txBody>
      </p:sp>
      <p:sp>
        <p:nvSpPr>
          <p:cNvPr id="9" name="Text 6"/>
          <p:cNvSpPr/>
          <p:nvPr/>
        </p:nvSpPr>
        <p:spPr>
          <a:xfrm>
            <a:off x="966174" y="2079571"/>
            <a:ext cx="50596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B8D4E8"/>
                </a:solidFill>
              </a:rPr>
              <a:t>Web vulnerability scanner — automated alerts and findings</a:t>
            </a:r>
            <a:endParaRPr lang="en-US" sz="1467" dirty="0"/>
          </a:p>
        </p:txBody>
      </p:sp>
      <p:sp>
        <p:nvSpPr>
          <p:cNvPr id="10" name="Shape 7"/>
          <p:cNvSpPr/>
          <p:nvPr/>
        </p:nvSpPr>
        <p:spPr>
          <a:xfrm>
            <a:off x="418854" y="4029456"/>
            <a:ext cx="5486400" cy="176784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18854" y="3967808"/>
            <a:ext cx="5486400" cy="97536"/>
          </a:xfrm>
          <a:prstGeom prst="rect">
            <a:avLst/>
          </a:prstGeom>
          <a:solidFill>
            <a:srgbClr val="00FF9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46448"/>
            <a:ext cx="670560" cy="670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023360" y="4131417"/>
            <a:ext cx="1828800" cy="365760"/>
          </a:xfrm>
          <a:prstGeom prst="roundRect">
            <a:avLst>
              <a:gd name="adj" fmla="val 26667"/>
            </a:avLst>
          </a:prstGeom>
          <a:solidFill>
            <a:srgbClr val="00FF9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3978132" y="4140069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D1B2A"/>
                </a:solidFill>
              </a:rPr>
              <a:t>Primary Defense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348986" y="4468368"/>
            <a:ext cx="3413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FFFFFF"/>
                </a:solidFill>
              </a:rPr>
              <a:t>Wordfence</a:t>
            </a:r>
            <a:endParaRPr lang="en-US" sz="2133" dirty="0"/>
          </a:p>
        </p:txBody>
      </p:sp>
      <p:sp>
        <p:nvSpPr>
          <p:cNvPr id="16" name="Text 12"/>
          <p:cNvSpPr/>
          <p:nvPr/>
        </p:nvSpPr>
        <p:spPr>
          <a:xfrm>
            <a:off x="961595" y="4835505"/>
            <a:ext cx="50596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0" dirty="0">
                <a:solidFill>
                  <a:srgbClr val="B8D4E8"/>
                </a:solidFill>
              </a:rPr>
              <a:t>WordPress firewall, malware scanner, brute-force protection</a:t>
            </a:r>
            <a:endParaRPr lang="en-US" sz="1450" dirty="0"/>
          </a:p>
        </p:txBody>
      </p:sp>
      <p:sp>
        <p:nvSpPr>
          <p:cNvPr id="31" name="Text 24"/>
          <p:cNvSpPr/>
          <p:nvPr/>
        </p:nvSpPr>
        <p:spPr>
          <a:xfrm>
            <a:off x="8168640" y="4450080"/>
            <a:ext cx="3657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700" b="1" dirty="0">
              <a:solidFill>
                <a:srgbClr val="FFFFFF"/>
              </a:solidFill>
            </a:endParaRPr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63797C6-974E-BAF7-983B-0873F9933D96}"/>
              </a:ext>
            </a:extLst>
          </p:cNvPr>
          <p:cNvSpPr/>
          <p:nvPr/>
        </p:nvSpPr>
        <p:spPr>
          <a:xfrm>
            <a:off x="6525291" y="2745537"/>
            <a:ext cx="5486400" cy="176784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B0B15234-A8E9-41DA-ADED-8D72E1D1B8F7}"/>
              </a:ext>
            </a:extLst>
          </p:cNvPr>
          <p:cNvSpPr/>
          <p:nvPr/>
        </p:nvSpPr>
        <p:spPr>
          <a:xfrm>
            <a:off x="6525291" y="2652574"/>
            <a:ext cx="5486400" cy="97536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6590EC7F-F1D0-8B5B-2931-7C5975AA73BB}"/>
              </a:ext>
            </a:extLst>
          </p:cNvPr>
          <p:cNvSpPr/>
          <p:nvPr/>
        </p:nvSpPr>
        <p:spPr>
          <a:xfrm>
            <a:off x="9994099" y="2868376"/>
            <a:ext cx="1828800" cy="365760"/>
          </a:xfrm>
          <a:prstGeom prst="roundRect">
            <a:avLst>
              <a:gd name="adj" fmla="val 26667"/>
            </a:avLst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933759-989E-1FD8-9EBA-9A10F6461550}"/>
              </a:ext>
            </a:extLst>
          </p:cNvPr>
          <p:cNvSpPr txBox="1"/>
          <p:nvPr/>
        </p:nvSpPr>
        <p:spPr>
          <a:xfrm>
            <a:off x="10313095" y="2938397"/>
            <a:ext cx="1388302" cy="5748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0D1B2A"/>
                </a:solidFill>
                <a:latin typeface="Aptos"/>
              </a:rPr>
              <a:t>Core Hardening</a:t>
            </a:r>
            <a:endParaRPr lang="en-US" sz="1200"/>
          </a:p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7E65F4-11F8-182F-3D76-2675635C747E}"/>
              </a:ext>
            </a:extLst>
          </p:cNvPr>
          <p:cNvSpPr txBox="1"/>
          <p:nvPr/>
        </p:nvSpPr>
        <p:spPr>
          <a:xfrm>
            <a:off x="7505178" y="3261986"/>
            <a:ext cx="6096000" cy="7848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100" b="1">
                <a:solidFill>
                  <a:schemeClr val="bg1"/>
                </a:solidFill>
                <a:latin typeface="Aptos"/>
                <a:ea typeface="Aptos"/>
                <a:cs typeface="Aptos"/>
              </a:rPr>
              <a:t>SSL Enforcement</a:t>
            </a:r>
            <a:endParaRPr lang="en-US" sz="2100" b="1">
              <a:solidFill>
                <a:schemeClr val="bg1"/>
              </a:solidFill>
            </a:endParaRPr>
          </a:p>
          <a:p>
            <a:pPr algn="ctr"/>
            <a:endParaRPr lang="en-US" sz="24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4D9300-0BAF-930B-F293-878AB1765A91}"/>
              </a:ext>
            </a:extLst>
          </p:cNvPr>
          <p:cNvSpPr txBox="1"/>
          <p:nvPr/>
        </p:nvSpPr>
        <p:spPr>
          <a:xfrm>
            <a:off x="7265096" y="3836096"/>
            <a:ext cx="6096000" cy="95410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accent1">
                    <a:lumMod val="20000"/>
                    <a:lumOff val="80000"/>
                  </a:schemeClr>
                </a:solidFill>
                <a:ea typeface="+mn-lt"/>
                <a:cs typeface="+mn-lt"/>
              </a:rPr>
              <a:t>Enable HTTPS via .htaccess 301 redirect</a:t>
            </a:r>
            <a:endParaRPr lang="en-US" sz="140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 sz="1400" b="1" dirty="0">
              <a:solidFill>
                <a:schemeClr val="bg1"/>
              </a:solidFill>
            </a:endParaRPr>
          </a:p>
          <a:p>
            <a:endParaRPr lang="en-US" sz="1400" b="1" dirty="0">
              <a:solidFill>
                <a:schemeClr val="bg1"/>
              </a:solidFill>
            </a:endParaRPr>
          </a:p>
          <a:p>
            <a:pPr algn="ctr"/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26" name="Picture 25" descr="Clipart - Lock">
            <a:extLst>
              <a:ext uri="{FF2B5EF4-FFF2-40B4-BE49-F238E27FC236}">
                <a16:creationId xmlns:a16="http://schemas.microsoft.com/office/drawing/2014/main" id="{4CC2D94B-1178-405C-F97A-72B5AFE62C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5827" y="3057786"/>
            <a:ext cx="537499" cy="617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538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43840"/>
            <a:ext cx="12192000" cy="73152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</a:rPr>
              <a:t>OWASP ZAP Results</a:t>
            </a:r>
            <a:endParaRPr lang="en-US" sz="2933" dirty="0"/>
          </a:p>
        </p:txBody>
      </p:sp>
      <p:sp>
        <p:nvSpPr>
          <p:cNvPr id="3" name="Shape 1"/>
          <p:cNvSpPr/>
          <p:nvPr/>
        </p:nvSpPr>
        <p:spPr>
          <a:xfrm>
            <a:off x="396240" y="1179674"/>
            <a:ext cx="6004560" cy="544904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96240" y="1097280"/>
            <a:ext cx="1630188" cy="82394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-223685" y="1288419"/>
            <a:ext cx="3048000" cy="387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>
                <a:solidFill>
                  <a:schemeClr val="bg1"/>
                </a:solidFill>
              </a:rPr>
              <a:t>TOTAL ALERTS</a:t>
            </a:r>
            <a:endParaRPr lang="en-US" sz="1333">
              <a:solidFill>
                <a:schemeClr val="bg1"/>
              </a:solidFill>
            </a:endParaRPr>
          </a:p>
          <a:p>
            <a:pPr algn="ctr"/>
            <a:r>
              <a:rPr lang="en-US" sz="1333" b="1">
                <a:solidFill>
                  <a:schemeClr val="bg1"/>
                </a:solidFill>
              </a:rPr>
              <a:t>DETECTED</a:t>
            </a:r>
            <a:endParaRPr lang="en-US" sz="1333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815130" y="1097280"/>
            <a:ext cx="488919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0C2FF"/>
                </a:solidFill>
              </a:rPr>
              <a:t>Alert Breakdown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33419" y="1550744"/>
            <a:ext cx="4992821" cy="54864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757906" y="1553301"/>
            <a:ext cx="73152" cy="54864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06570" y="1645920"/>
            <a:ext cx="296895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FFFFFF"/>
                </a:solidFill>
              </a:rPr>
              <a:t>Spring4Shell</a:t>
            </a:r>
            <a:endParaRPr lang="en-US" sz="1533" dirty="0"/>
          </a:p>
        </p:txBody>
      </p:sp>
      <p:sp>
        <p:nvSpPr>
          <p:cNvPr id="11" name="Shape 9"/>
          <p:cNvSpPr/>
          <p:nvPr/>
        </p:nvSpPr>
        <p:spPr>
          <a:xfrm>
            <a:off x="9997440" y="1645920"/>
            <a:ext cx="914400" cy="365760"/>
          </a:xfrm>
          <a:prstGeom prst="roundRect">
            <a:avLst>
              <a:gd name="adj" fmla="val 16667"/>
            </a:avLst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997440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0D1B2A"/>
                </a:solidFill>
              </a:rPr>
              <a:t>HIGH</a:t>
            </a:r>
            <a:endParaRPr lang="en-US" sz="1133" dirty="0"/>
          </a:p>
        </p:txBody>
      </p:sp>
      <p:sp>
        <p:nvSpPr>
          <p:cNvPr id="13" name="Text 11"/>
          <p:cNvSpPr/>
          <p:nvPr/>
        </p:nvSpPr>
        <p:spPr>
          <a:xfrm>
            <a:off x="11033760" y="1645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>
                <a:solidFill>
                  <a:srgbClr val="FF4757"/>
                </a:solidFill>
              </a:rPr>
              <a:t>*</a:t>
            </a:r>
            <a:r>
              <a:rPr lang="en-US" sz="1467" b="1" dirty="0">
                <a:solidFill>
                  <a:srgbClr val="FF4757"/>
                </a:solidFill>
              </a:rPr>
              <a:t>3</a:t>
            </a:r>
            <a:endParaRPr lang="en-US" sz="1467" dirty="0"/>
          </a:p>
        </p:txBody>
      </p:sp>
      <p:sp>
        <p:nvSpPr>
          <p:cNvPr id="14" name="Shape 12"/>
          <p:cNvSpPr/>
          <p:nvPr/>
        </p:nvSpPr>
        <p:spPr>
          <a:xfrm>
            <a:off x="6833418" y="2244704"/>
            <a:ext cx="4962341" cy="548640"/>
          </a:xfrm>
          <a:prstGeom prst="rect">
            <a:avLst/>
          </a:prstGeom>
          <a:solidFill>
            <a:srgbClr val="192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758697" y="2240968"/>
            <a:ext cx="73152" cy="548640"/>
          </a:xfrm>
          <a:prstGeom prst="rect">
            <a:avLst/>
          </a:prstGeom>
          <a:solidFill>
            <a:srgbClr val="FFA5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06570" y="2316480"/>
            <a:ext cx="296895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FFFFFF"/>
                </a:solidFill>
              </a:rPr>
              <a:t>CSP Header Not Set</a:t>
            </a:r>
            <a:endParaRPr lang="en-US" sz="1533" dirty="0"/>
          </a:p>
        </p:txBody>
      </p:sp>
      <p:sp>
        <p:nvSpPr>
          <p:cNvPr id="17" name="Shape 15"/>
          <p:cNvSpPr/>
          <p:nvPr/>
        </p:nvSpPr>
        <p:spPr>
          <a:xfrm>
            <a:off x="9997440" y="2316480"/>
            <a:ext cx="914400" cy="365760"/>
          </a:xfrm>
          <a:prstGeom prst="roundRect">
            <a:avLst>
              <a:gd name="adj" fmla="val 16667"/>
            </a:avLst>
          </a:prstGeom>
          <a:solidFill>
            <a:srgbClr val="FFA5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997440" y="2316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0D1B2A"/>
                </a:solidFill>
              </a:rPr>
              <a:t>MED</a:t>
            </a:r>
            <a:endParaRPr lang="en-US" sz="1133" dirty="0"/>
          </a:p>
        </p:txBody>
      </p:sp>
      <p:sp>
        <p:nvSpPr>
          <p:cNvPr id="19" name="Text 17"/>
          <p:cNvSpPr/>
          <p:nvPr/>
        </p:nvSpPr>
        <p:spPr>
          <a:xfrm>
            <a:off x="11033760" y="2316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>
                <a:solidFill>
                  <a:srgbClr val="FFA502"/>
                </a:solidFill>
              </a:rPr>
              <a:t>*</a:t>
            </a:r>
            <a:r>
              <a:rPr lang="en-US" sz="1467" b="1" dirty="0">
                <a:solidFill>
                  <a:srgbClr val="FFA502"/>
                </a:solidFill>
              </a:rPr>
              <a:t>1</a:t>
            </a:r>
            <a:endParaRPr lang="en-US" sz="1467" dirty="0"/>
          </a:p>
        </p:txBody>
      </p:sp>
      <p:sp>
        <p:nvSpPr>
          <p:cNvPr id="20" name="Shape 18"/>
          <p:cNvSpPr/>
          <p:nvPr/>
        </p:nvSpPr>
        <p:spPr>
          <a:xfrm>
            <a:off x="6831057" y="2933355"/>
            <a:ext cx="4964701" cy="54864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68535" y="2931192"/>
            <a:ext cx="73152" cy="548640"/>
          </a:xfrm>
          <a:prstGeom prst="rect">
            <a:avLst/>
          </a:prstGeom>
          <a:solidFill>
            <a:srgbClr val="FFA5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06570" y="2987040"/>
            <a:ext cx="296895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FFFFFF"/>
                </a:solidFill>
              </a:rPr>
              <a:t>Missing Anti-Clickjacking Header</a:t>
            </a:r>
            <a:endParaRPr lang="en-US" sz="1533" dirty="0"/>
          </a:p>
        </p:txBody>
      </p:sp>
      <p:sp>
        <p:nvSpPr>
          <p:cNvPr id="23" name="Shape 21"/>
          <p:cNvSpPr/>
          <p:nvPr/>
        </p:nvSpPr>
        <p:spPr>
          <a:xfrm>
            <a:off x="9997440" y="2987040"/>
            <a:ext cx="914400" cy="365760"/>
          </a:xfrm>
          <a:prstGeom prst="roundRect">
            <a:avLst>
              <a:gd name="adj" fmla="val 16667"/>
            </a:avLst>
          </a:prstGeom>
          <a:solidFill>
            <a:srgbClr val="FFA5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997440" y="2987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0D1B2A"/>
                </a:solidFill>
              </a:rPr>
              <a:t>MED</a:t>
            </a:r>
            <a:endParaRPr lang="en-US" sz="1133" dirty="0"/>
          </a:p>
        </p:txBody>
      </p:sp>
      <p:sp>
        <p:nvSpPr>
          <p:cNvPr id="25" name="Text 23"/>
          <p:cNvSpPr/>
          <p:nvPr/>
        </p:nvSpPr>
        <p:spPr>
          <a:xfrm>
            <a:off x="11033760" y="2987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>
                <a:solidFill>
                  <a:srgbClr val="FFA502"/>
                </a:solidFill>
              </a:rPr>
              <a:t>*</a:t>
            </a:r>
            <a:r>
              <a:rPr lang="en-US" sz="1467" b="1" dirty="0">
                <a:solidFill>
                  <a:srgbClr val="FFA502"/>
                </a:solidFill>
              </a:rPr>
              <a:t>1</a:t>
            </a:r>
            <a:endParaRPr lang="en-US" sz="1467" dirty="0"/>
          </a:p>
        </p:txBody>
      </p:sp>
      <p:sp>
        <p:nvSpPr>
          <p:cNvPr id="26" name="Shape 24"/>
          <p:cNvSpPr/>
          <p:nvPr/>
        </p:nvSpPr>
        <p:spPr>
          <a:xfrm>
            <a:off x="6841686" y="3572256"/>
            <a:ext cx="4954071" cy="548640"/>
          </a:xfrm>
          <a:prstGeom prst="rect">
            <a:avLst/>
          </a:prstGeom>
          <a:solidFill>
            <a:srgbClr val="192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778367" y="3572256"/>
            <a:ext cx="73152" cy="548640"/>
          </a:xfrm>
          <a:prstGeom prst="rect">
            <a:avLst/>
          </a:prstGeom>
          <a:solidFill>
            <a:srgbClr val="FFA5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906570" y="3657600"/>
            <a:ext cx="296895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FFFFFF"/>
                </a:solidFill>
              </a:rPr>
              <a:t>HSTS Not Set</a:t>
            </a:r>
            <a:endParaRPr lang="en-US" sz="1533" dirty="0"/>
          </a:p>
        </p:txBody>
      </p:sp>
      <p:sp>
        <p:nvSpPr>
          <p:cNvPr id="29" name="Shape 27"/>
          <p:cNvSpPr/>
          <p:nvPr/>
        </p:nvSpPr>
        <p:spPr>
          <a:xfrm>
            <a:off x="9997440" y="3657600"/>
            <a:ext cx="914400" cy="365760"/>
          </a:xfrm>
          <a:prstGeom prst="roundRect">
            <a:avLst>
              <a:gd name="adj" fmla="val 16667"/>
            </a:avLst>
          </a:prstGeom>
          <a:solidFill>
            <a:srgbClr val="FFA5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997440" y="3657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0D1B2A"/>
                </a:solidFill>
              </a:rPr>
              <a:t>MED</a:t>
            </a:r>
            <a:endParaRPr lang="en-US" sz="1133" dirty="0"/>
          </a:p>
        </p:txBody>
      </p:sp>
      <p:sp>
        <p:nvSpPr>
          <p:cNvPr id="31" name="Text 29"/>
          <p:cNvSpPr/>
          <p:nvPr/>
        </p:nvSpPr>
        <p:spPr>
          <a:xfrm>
            <a:off x="11033760" y="3657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>
                <a:solidFill>
                  <a:srgbClr val="FFA502"/>
                </a:solidFill>
              </a:rPr>
              <a:t>*</a:t>
            </a:r>
            <a:r>
              <a:rPr lang="en-US" sz="1467" b="1" dirty="0">
                <a:solidFill>
                  <a:srgbClr val="FFA502"/>
                </a:solidFill>
              </a:rPr>
              <a:t>1</a:t>
            </a:r>
            <a:endParaRPr lang="en-US" sz="1467" dirty="0"/>
          </a:p>
        </p:txBody>
      </p:sp>
      <p:sp>
        <p:nvSpPr>
          <p:cNvPr id="32" name="Shape 30"/>
          <p:cNvSpPr/>
          <p:nvPr/>
        </p:nvSpPr>
        <p:spPr>
          <a:xfrm>
            <a:off x="6872168" y="4242816"/>
            <a:ext cx="4954072" cy="54864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788188" y="4242816"/>
            <a:ext cx="73152" cy="548640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977944" y="4328160"/>
            <a:ext cx="289757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FFFFFF"/>
                </a:solidFill>
              </a:rPr>
              <a:t>X-Content-Type-Options Missing</a:t>
            </a:r>
            <a:endParaRPr lang="en-US" sz="1533" dirty="0"/>
          </a:p>
        </p:txBody>
      </p:sp>
      <p:sp>
        <p:nvSpPr>
          <p:cNvPr id="35" name="Shape 33"/>
          <p:cNvSpPr/>
          <p:nvPr/>
        </p:nvSpPr>
        <p:spPr>
          <a:xfrm>
            <a:off x="9997440" y="4328160"/>
            <a:ext cx="914400" cy="365760"/>
          </a:xfrm>
          <a:prstGeom prst="roundRect">
            <a:avLst>
              <a:gd name="adj" fmla="val 16667"/>
            </a:avLst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997440" y="4328160"/>
            <a:ext cx="914400" cy="36576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>
                <a:solidFill>
                  <a:srgbClr val="0D1B2A"/>
                </a:solidFill>
              </a:rPr>
              <a:t>MED</a:t>
            </a:r>
            <a:endParaRPr lang="en-US" sz="1133" dirty="0"/>
          </a:p>
        </p:txBody>
      </p:sp>
      <p:sp>
        <p:nvSpPr>
          <p:cNvPr id="37" name="Text 35"/>
          <p:cNvSpPr/>
          <p:nvPr/>
        </p:nvSpPr>
        <p:spPr>
          <a:xfrm>
            <a:off x="11033760" y="4328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>
                <a:solidFill>
                  <a:srgbClr val="FFC000"/>
                </a:solidFill>
              </a:rPr>
              <a:t>*1</a:t>
            </a:r>
            <a:endParaRPr lang="en-US" sz="1467">
              <a:solidFill>
                <a:srgbClr val="FFC000"/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841686" y="4913376"/>
            <a:ext cx="4984554" cy="548640"/>
          </a:xfrm>
          <a:prstGeom prst="rect">
            <a:avLst/>
          </a:prstGeom>
          <a:solidFill>
            <a:srgbClr val="192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768526" y="4913376"/>
            <a:ext cx="73152" cy="548640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977944" y="4998720"/>
            <a:ext cx="289757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FFFFFF"/>
                </a:solidFill>
              </a:rPr>
              <a:t>HTTPS via HTTP / Cache-Control</a:t>
            </a:r>
            <a:endParaRPr lang="en-US" sz="1533" dirty="0"/>
          </a:p>
        </p:txBody>
      </p:sp>
      <p:sp>
        <p:nvSpPr>
          <p:cNvPr id="41" name="Shape 39"/>
          <p:cNvSpPr/>
          <p:nvPr/>
        </p:nvSpPr>
        <p:spPr>
          <a:xfrm>
            <a:off x="9997440" y="4998720"/>
            <a:ext cx="914400" cy="36576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997440" y="4998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>
                <a:solidFill>
                  <a:srgbClr val="0D1B2A"/>
                </a:solidFill>
              </a:rPr>
              <a:t>MED</a:t>
            </a:r>
            <a:endParaRPr lang="en-US" sz="1133" dirty="0"/>
          </a:p>
        </p:txBody>
      </p:sp>
      <p:sp>
        <p:nvSpPr>
          <p:cNvPr id="43" name="Text 41"/>
          <p:cNvSpPr/>
          <p:nvPr/>
        </p:nvSpPr>
        <p:spPr>
          <a:xfrm>
            <a:off x="11033760" y="49987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>
                <a:solidFill>
                  <a:srgbClr val="FFC000"/>
                </a:solidFill>
              </a:rPr>
              <a:t>*1</a:t>
            </a:r>
            <a:endParaRPr lang="en-US" sz="1467">
              <a:solidFill>
                <a:srgbClr val="FFC000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365759" y="1806972"/>
            <a:ext cx="6337883" cy="465478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5760" y="4328160"/>
            <a:ext cx="304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467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4BCB386-0E57-90A8-B6CC-338E6E008F12}"/>
              </a:ext>
            </a:extLst>
          </p:cNvPr>
          <p:cNvSpPr txBox="1"/>
          <p:nvPr/>
        </p:nvSpPr>
        <p:spPr>
          <a:xfrm>
            <a:off x="3256935" y="1269984"/>
            <a:ext cx="3318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/>
              <a:t>9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D71C5997-B7FB-744F-BE0B-A42A1CC5AF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95" y="1840992"/>
            <a:ext cx="6270228" cy="467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327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43840"/>
            <a:ext cx="12192000" cy="73152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00" b="1">
                <a:solidFill>
                  <a:srgbClr val="FFFFFF"/>
                </a:solidFill>
              </a:rPr>
              <a:t>ZAP Findings - Analysis</a:t>
            </a:r>
            <a:endParaRPr lang="en-US" sz="2900"/>
          </a:p>
        </p:txBody>
      </p:sp>
      <p:sp>
        <p:nvSpPr>
          <p:cNvPr id="3" name="Shape 1"/>
          <p:cNvSpPr/>
          <p:nvPr/>
        </p:nvSpPr>
        <p:spPr>
          <a:xfrm>
            <a:off x="365760" y="1219200"/>
            <a:ext cx="8900160" cy="1036320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219200"/>
            <a:ext cx="97536" cy="103632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38656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280160"/>
            <a:ext cx="3657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</a:rPr>
              <a:t>Missing CSP</a:t>
            </a:r>
            <a:endParaRPr lang="en-US" sz="1733" dirty="0"/>
          </a:p>
        </p:txBody>
      </p:sp>
      <p:sp>
        <p:nvSpPr>
          <p:cNvPr id="7" name="Shape 4"/>
          <p:cNvSpPr/>
          <p:nvPr/>
        </p:nvSpPr>
        <p:spPr>
          <a:xfrm>
            <a:off x="5181600" y="1280160"/>
            <a:ext cx="1706880" cy="341376"/>
          </a:xfrm>
          <a:prstGeom prst="roundRect">
            <a:avLst>
              <a:gd name="adj" fmla="val 28571"/>
            </a:avLst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181600" y="1280160"/>
            <a:ext cx="1706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D1B2A"/>
                </a:solidFill>
              </a:rPr>
              <a:t>XSS Risk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80160" y="1682496"/>
            <a:ext cx="7741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B8D4E8"/>
                </a:solidFill>
              </a:rPr>
              <a:t>No Content Security Policy allows inline scripts to execute, enabling XSS attacks</a:t>
            </a:r>
            <a:endParaRPr lang="en-US" sz="1467" dirty="0"/>
          </a:p>
        </p:txBody>
      </p:sp>
      <p:sp>
        <p:nvSpPr>
          <p:cNvPr id="10" name="Shape 7"/>
          <p:cNvSpPr/>
          <p:nvPr/>
        </p:nvSpPr>
        <p:spPr>
          <a:xfrm>
            <a:off x="365760" y="2462784"/>
            <a:ext cx="8900160" cy="1036320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65760" y="2462784"/>
            <a:ext cx="97536" cy="1036320"/>
          </a:xfrm>
          <a:prstGeom prst="rect">
            <a:avLst/>
          </a:prstGeom>
          <a:solidFill>
            <a:srgbClr val="FFA50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682240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523744"/>
            <a:ext cx="3657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</a:rPr>
              <a:t>Missing HSTS</a:t>
            </a:r>
            <a:endParaRPr lang="en-US" sz="1733" dirty="0"/>
          </a:p>
        </p:txBody>
      </p:sp>
      <p:sp>
        <p:nvSpPr>
          <p:cNvPr id="14" name="Shape 10"/>
          <p:cNvSpPr/>
          <p:nvPr/>
        </p:nvSpPr>
        <p:spPr>
          <a:xfrm>
            <a:off x="5181600" y="2523744"/>
            <a:ext cx="1706880" cy="341376"/>
          </a:xfrm>
          <a:prstGeom prst="roundRect">
            <a:avLst>
              <a:gd name="adj" fmla="val 28571"/>
            </a:avLst>
          </a:prstGeom>
          <a:solidFill>
            <a:srgbClr val="FFA5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181600" y="2523744"/>
            <a:ext cx="1706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D1B2A"/>
                </a:solidFill>
              </a:rPr>
              <a:t>MITM Risk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280160" y="2926080"/>
            <a:ext cx="7741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B8D4E8"/>
                </a:solidFill>
              </a:rPr>
              <a:t>Without HTTP Strict Transport Security, connections can be downgraded to HTTP</a:t>
            </a:r>
            <a:endParaRPr lang="en-US" sz="1467" dirty="0"/>
          </a:p>
        </p:txBody>
      </p:sp>
      <p:sp>
        <p:nvSpPr>
          <p:cNvPr id="17" name="Shape 13"/>
          <p:cNvSpPr/>
          <p:nvPr/>
        </p:nvSpPr>
        <p:spPr>
          <a:xfrm>
            <a:off x="365760" y="3706368"/>
            <a:ext cx="8900160" cy="1036320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65760" y="3706368"/>
            <a:ext cx="97536" cy="1036320"/>
          </a:xfrm>
          <a:prstGeom prst="rect">
            <a:avLst/>
          </a:prstGeom>
          <a:solidFill>
            <a:srgbClr val="FFA50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925824"/>
            <a:ext cx="512064" cy="5120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3767328"/>
            <a:ext cx="3657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</a:rPr>
              <a:t>No Anti-Clickjacking</a:t>
            </a:r>
            <a:endParaRPr lang="en-US" sz="1733" dirty="0"/>
          </a:p>
        </p:txBody>
      </p:sp>
      <p:sp>
        <p:nvSpPr>
          <p:cNvPr id="21" name="Shape 16"/>
          <p:cNvSpPr/>
          <p:nvPr/>
        </p:nvSpPr>
        <p:spPr>
          <a:xfrm>
            <a:off x="5181600" y="3767328"/>
            <a:ext cx="1706880" cy="341376"/>
          </a:xfrm>
          <a:prstGeom prst="roundRect">
            <a:avLst>
              <a:gd name="adj" fmla="val 28571"/>
            </a:avLst>
          </a:prstGeom>
          <a:solidFill>
            <a:srgbClr val="FFA5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5181600" y="3767328"/>
            <a:ext cx="1706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D1B2A"/>
                </a:solidFill>
              </a:rPr>
              <a:t>UI Redressing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280160" y="4169664"/>
            <a:ext cx="7741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B8D4E8"/>
                </a:solidFill>
              </a:rPr>
              <a:t>Without X-Frame-Options, malicious sites can embed this site in an iframe</a:t>
            </a:r>
            <a:endParaRPr lang="en-US" sz="1467" dirty="0"/>
          </a:p>
        </p:txBody>
      </p:sp>
      <p:sp>
        <p:nvSpPr>
          <p:cNvPr id="24" name="Shape 19"/>
          <p:cNvSpPr/>
          <p:nvPr/>
        </p:nvSpPr>
        <p:spPr>
          <a:xfrm>
            <a:off x="365760" y="4949952"/>
            <a:ext cx="8900160" cy="1036320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365760" y="4949952"/>
            <a:ext cx="97536" cy="1036320"/>
          </a:xfrm>
          <a:prstGeom prst="rect">
            <a:avLst/>
          </a:prstGeom>
          <a:solidFill>
            <a:srgbClr val="5A8FA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5169408"/>
            <a:ext cx="512064" cy="51206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280160" y="5010912"/>
            <a:ext cx="3657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</a:rPr>
              <a:t>Missing X-Content-Type</a:t>
            </a:r>
            <a:endParaRPr lang="en-US" sz="1733" dirty="0"/>
          </a:p>
        </p:txBody>
      </p:sp>
      <p:sp>
        <p:nvSpPr>
          <p:cNvPr id="28" name="Shape 22"/>
          <p:cNvSpPr/>
          <p:nvPr/>
        </p:nvSpPr>
        <p:spPr>
          <a:xfrm>
            <a:off x="5181600" y="5010912"/>
            <a:ext cx="1706880" cy="341376"/>
          </a:xfrm>
          <a:prstGeom prst="roundRect">
            <a:avLst>
              <a:gd name="adj" fmla="val 28571"/>
            </a:avLst>
          </a:prstGeom>
          <a:solidFill>
            <a:srgbClr val="5A8F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5181600" y="5010912"/>
            <a:ext cx="1706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D1B2A"/>
                </a:solidFill>
              </a:rPr>
              <a:t>MIME Sniffing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1280160" y="5413248"/>
            <a:ext cx="7741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B8D4E8"/>
                </a:solidFill>
              </a:rPr>
              <a:t>Browsers may execute content as a different MIME type than intended</a:t>
            </a:r>
            <a:endParaRPr lang="en-US" sz="1467" dirty="0"/>
          </a:p>
        </p:txBody>
      </p:sp>
      <p:sp>
        <p:nvSpPr>
          <p:cNvPr id="31" name="Shape 25"/>
          <p:cNvSpPr/>
          <p:nvPr/>
        </p:nvSpPr>
        <p:spPr>
          <a:xfrm>
            <a:off x="9509760" y="1219200"/>
            <a:ext cx="2316480" cy="4767072"/>
          </a:xfrm>
          <a:prstGeom prst="rect">
            <a:avLst/>
          </a:prstGeom>
          <a:solidFill>
            <a:srgbClr val="1A3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9509760" y="1219200"/>
            <a:ext cx="2316480" cy="73152"/>
          </a:xfrm>
          <a:prstGeom prst="rect">
            <a:avLst/>
          </a:prstGeom>
          <a:solidFill>
            <a:srgbClr val="00FF9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9509760" y="1341120"/>
            <a:ext cx="23164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b="1" dirty="0">
                <a:solidFill>
                  <a:srgbClr val="00FF9F"/>
                </a:solidFill>
              </a:rPr>
              <a:t>⚠ IMPORTANT</a:t>
            </a:r>
            <a:endParaRPr lang="en-US" sz="1267" dirty="0"/>
          </a:p>
        </p:txBody>
      </p:sp>
      <p:sp>
        <p:nvSpPr>
          <p:cNvPr id="34" name="Text 28"/>
          <p:cNvSpPr/>
          <p:nvPr/>
        </p:nvSpPr>
        <p:spPr>
          <a:xfrm>
            <a:off x="9631680" y="1828800"/>
            <a:ext cx="2072640" cy="426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B8D4E8"/>
                </a:solidFill>
              </a:rPr>
              <a:t>Spring4Shell is a Java Spring framework vulnerability.</a:t>
            </a:r>
            <a:endParaRPr lang="en-US" sz="1333" dirty="0"/>
          </a:p>
          <a:p>
            <a:pPr algn="ctr"/>
            <a:endParaRPr lang="en-US" sz="1333" dirty="0"/>
          </a:p>
          <a:p>
            <a:pPr algn="ctr"/>
            <a:r>
              <a:rPr lang="en-US" sz="1333" dirty="0">
                <a:solidFill>
                  <a:srgbClr val="B8D4E8"/>
                </a:solidFill>
              </a:rPr>
              <a:t>WordPress does not use Java Spring.</a:t>
            </a:r>
            <a:endParaRPr lang="en-US" sz="1333" dirty="0"/>
          </a:p>
          <a:p>
            <a:pPr algn="ctr"/>
            <a:endParaRPr lang="en-US" sz="1333" dirty="0"/>
          </a:p>
          <a:p>
            <a:pPr algn="ctr"/>
            <a:r>
              <a:rPr lang="en-US" sz="1333" dirty="0">
                <a:solidFill>
                  <a:srgbClr val="B8D4E8"/>
                </a:solidFill>
              </a:rPr>
              <a:t>These 3 alerts are likely FALSE POSITIVES.</a:t>
            </a:r>
            <a:endParaRPr lang="en-US" sz="1333" dirty="0"/>
          </a:p>
        </p:txBody>
      </p:sp>
    </p:spTree>
    <p:extLst>
      <p:ext uri="{BB962C8B-B14F-4D97-AF65-F5344CB8AC3E}">
        <p14:creationId xmlns:p14="http://schemas.microsoft.com/office/powerpoint/2010/main" val="2503658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43840"/>
            <a:ext cx="12192000" cy="73152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00" b="1">
                <a:solidFill>
                  <a:srgbClr val="FFFFFF"/>
                </a:solidFill>
              </a:rPr>
              <a:t>Wordfence Security Results</a:t>
            </a:r>
            <a:endParaRPr lang="en-US" sz="2900"/>
          </a:p>
        </p:txBody>
      </p:sp>
      <p:sp>
        <p:nvSpPr>
          <p:cNvPr id="5" name="Text 3"/>
          <p:cNvSpPr/>
          <p:nvPr/>
        </p:nvSpPr>
        <p:spPr>
          <a:xfrm>
            <a:off x="365760" y="1499616"/>
            <a:ext cx="794446" cy="75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4000" b="1">
              <a:solidFill>
                <a:srgbClr val="FF4757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19251" y="1623264"/>
            <a:ext cx="5486400" cy="487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 lang="en-US" sz="1600" b="1">
              <a:solidFill>
                <a:srgbClr val="B8D4E8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8236132" y="1435235"/>
            <a:ext cx="3692154" cy="767542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097664" y="1359065"/>
            <a:ext cx="4138469" cy="1219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73670" y="1431437"/>
            <a:ext cx="3864359" cy="765245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43155" y="1370136"/>
            <a:ext cx="3692153" cy="85218"/>
          </a:xfrm>
          <a:prstGeom prst="rect">
            <a:avLst/>
          </a:prstGeom>
          <a:solidFill>
            <a:srgbClr val="FFA5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95030" y="1470981"/>
            <a:ext cx="1848466" cy="769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>
                <a:solidFill>
                  <a:srgbClr val="FFA502"/>
                </a:solidFill>
              </a:rPr>
              <a:t>  </a:t>
            </a:r>
            <a:r>
              <a:rPr lang="en-US" sz="3600" b="1">
                <a:solidFill>
                  <a:srgbClr val="FFA502"/>
                </a:solidFill>
              </a:rPr>
              <a:t>35</a:t>
            </a:r>
            <a:endParaRPr lang="en-US" sz="3600"/>
          </a:p>
        </p:txBody>
      </p:sp>
      <p:sp>
        <p:nvSpPr>
          <p:cNvPr id="16" name="Text 14"/>
          <p:cNvSpPr/>
          <p:nvPr/>
        </p:nvSpPr>
        <p:spPr>
          <a:xfrm>
            <a:off x="8615119" y="1439047"/>
            <a:ext cx="1574813" cy="9549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>
                <a:solidFill>
                  <a:srgbClr val="5A8FAA"/>
                </a:solidFill>
              </a:rPr>
              <a:t>%</a:t>
            </a:r>
            <a:endParaRPr lang="en-US" sz="1467"/>
          </a:p>
        </p:txBody>
      </p:sp>
      <p:sp>
        <p:nvSpPr>
          <p:cNvPr id="17" name="Text 15"/>
          <p:cNvSpPr/>
          <p:nvPr/>
        </p:nvSpPr>
        <p:spPr>
          <a:xfrm>
            <a:off x="9155096" y="1616100"/>
            <a:ext cx="3385457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Firewall Protection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59785" y="1419559"/>
            <a:ext cx="4124703" cy="775837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9784" y="1359064"/>
            <a:ext cx="4106864" cy="79984"/>
          </a:xfrm>
          <a:prstGeom prst="rect">
            <a:avLst/>
          </a:prstGeom>
          <a:solidFill>
            <a:srgbClr val="00FF9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0189" y="1265412"/>
            <a:ext cx="104100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>
                <a:solidFill>
                  <a:srgbClr val="00FF9F"/>
                </a:solidFill>
              </a:rPr>
              <a:t>100</a:t>
            </a:r>
            <a:endParaRPr lang="en-US" sz="3200"/>
          </a:p>
        </p:txBody>
      </p:sp>
      <p:sp>
        <p:nvSpPr>
          <p:cNvPr id="21" name="Text 19"/>
          <p:cNvSpPr/>
          <p:nvPr/>
        </p:nvSpPr>
        <p:spPr>
          <a:xfrm>
            <a:off x="423707" y="1680754"/>
            <a:ext cx="193933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>
                <a:solidFill>
                  <a:srgbClr val="5A8FAA"/>
                </a:solidFill>
              </a:rPr>
              <a:t>%</a:t>
            </a:r>
            <a:endParaRPr lang="en-US" sz="1467"/>
          </a:p>
        </p:txBody>
      </p:sp>
      <p:sp>
        <p:nvSpPr>
          <p:cNvPr id="22" name="Text 20"/>
          <p:cNvSpPr/>
          <p:nvPr/>
        </p:nvSpPr>
        <p:spPr>
          <a:xfrm>
            <a:off x="1262952" y="1554223"/>
            <a:ext cx="3233058" cy="520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Brute Force Protection</a:t>
            </a:r>
            <a:endParaRPr lang="en-US" sz="1600">
              <a:solidFill>
                <a:schemeClr val="bg1"/>
              </a:solidFill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0BBBED9-001C-11A3-4321-8BA92822F9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77" r="-18" b="31542"/>
          <a:stretch>
            <a:fillRect/>
          </a:stretch>
        </p:blipFill>
        <p:spPr>
          <a:xfrm>
            <a:off x="1257042" y="3574537"/>
            <a:ext cx="9679739" cy="2900662"/>
          </a:xfrm>
          <a:prstGeom prst="rect">
            <a:avLst/>
          </a:prstGeom>
        </p:spPr>
      </p:pic>
      <p:sp>
        <p:nvSpPr>
          <p:cNvPr id="10" name="Text 8"/>
          <p:cNvSpPr/>
          <p:nvPr/>
        </p:nvSpPr>
        <p:spPr>
          <a:xfrm>
            <a:off x="2983127" y="1412108"/>
            <a:ext cx="3911745" cy="882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>
                <a:solidFill>
                  <a:schemeClr val="accent1">
                    <a:lumMod val="40000"/>
                    <a:lumOff val="60000"/>
                  </a:schemeClr>
                </a:solidFill>
              </a:rPr>
              <a:t>60–70</a:t>
            </a:r>
            <a:endParaRPr lang="en-US" sz="320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223867" y="1628481"/>
            <a:ext cx="5486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Malware Scan Coverage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629779" y="1692735"/>
            <a:ext cx="19565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>
                <a:solidFill>
                  <a:srgbClr val="5A8FAA"/>
                </a:solidFill>
              </a:rPr>
              <a:t>%</a:t>
            </a:r>
            <a:endParaRPr lang="en-US" sz="1467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29EE35B-377A-E22E-CE96-B6DDD41160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45" t="32554" r="31466"/>
          <a:stretch>
            <a:fillRect/>
          </a:stretch>
        </p:blipFill>
        <p:spPr>
          <a:xfrm>
            <a:off x="1261430" y="2289442"/>
            <a:ext cx="9715056" cy="18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013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90743AD-1927-331C-E099-EBCC1C8A6C2D}"/>
              </a:ext>
            </a:extLst>
          </p:cNvPr>
          <p:cNvSpPr/>
          <p:nvPr/>
        </p:nvSpPr>
        <p:spPr>
          <a:xfrm>
            <a:off x="0" y="243840"/>
            <a:ext cx="12192000" cy="73152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00" b="1">
                <a:solidFill>
                  <a:srgbClr val="FFFFFF"/>
                </a:solidFill>
              </a:rPr>
              <a:t>SSL Integration Results</a:t>
            </a:r>
            <a:endParaRPr lang="en-US"/>
          </a:p>
        </p:txBody>
      </p:sp>
      <p:sp>
        <p:nvSpPr>
          <p:cNvPr id="5" name="Shape 21">
            <a:extLst>
              <a:ext uri="{FF2B5EF4-FFF2-40B4-BE49-F238E27FC236}">
                <a16:creationId xmlns:a16="http://schemas.microsoft.com/office/drawing/2014/main" id="{B9870F3B-F9C3-438C-B37F-20E4041396E6}"/>
              </a:ext>
            </a:extLst>
          </p:cNvPr>
          <p:cNvSpPr/>
          <p:nvPr/>
        </p:nvSpPr>
        <p:spPr>
          <a:xfrm>
            <a:off x="5488378" y="4870646"/>
            <a:ext cx="6392447" cy="1779565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 lIns="91440" tIns="45720" rIns="91440" bIns="45720" anchor="t"/>
          <a:lstStyle/>
          <a:p>
            <a:endParaRPr lang="en-US" sz="1600" dirty="0">
              <a:solidFill>
                <a:schemeClr val="accent2"/>
              </a:solidFill>
              <a:highlight>
                <a:srgbClr val="EFEEEB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441B26-ECF3-52E2-D06E-890468E3DF57}"/>
              </a:ext>
            </a:extLst>
          </p:cNvPr>
          <p:cNvSpPr txBox="1"/>
          <p:nvPr/>
        </p:nvSpPr>
        <p:spPr>
          <a:xfrm>
            <a:off x="5493051" y="4972755"/>
            <a:ext cx="7336075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Configuration used:</a:t>
            </a:r>
            <a:endParaRPr lang="en-US" dirty="0">
              <a:solidFill>
                <a:schemeClr val="accent2"/>
              </a:solidFill>
            </a:endParaRP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en-US" dirty="0">
                <a:solidFill>
                  <a:schemeClr val="accent2"/>
                </a:solidFill>
              </a:rPr>
              <a:t>RewriteEngine On</a:t>
            </a:r>
          </a:p>
          <a:p>
            <a:r>
              <a:rPr lang="en-US" dirty="0">
                <a:solidFill>
                  <a:schemeClr val="accent2"/>
                </a:solidFill>
              </a:rPr>
              <a:t>RewriteCond %{HTTPS} ! = on</a:t>
            </a:r>
          </a:p>
          <a:p>
            <a:r>
              <a:rPr lang="en-US" dirty="0">
                <a:solidFill>
                  <a:schemeClr val="accent2"/>
                </a:solidFill>
              </a:rPr>
              <a:t>RewriteRule^https://%{HTTP HOST}%{REQUEST URI} [L,R=301]</a:t>
            </a:r>
          </a:p>
          <a:p>
            <a:endParaRPr lang="en-US" dirty="0"/>
          </a:p>
        </p:txBody>
      </p:sp>
      <p:pic>
        <p:nvPicPr>
          <p:cNvPr id="9" name="Picture 8" descr="A computer screen shot of a website&#10;&#10;AI-generated content may be incorrect.">
            <a:extLst>
              <a:ext uri="{FF2B5EF4-FFF2-40B4-BE49-F238E27FC236}">
                <a16:creationId xmlns:a16="http://schemas.microsoft.com/office/drawing/2014/main" id="{7EE601A9-51B3-65CB-568D-CFB0C99014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57" t="-468" r="286" b="7868"/>
          <a:stretch>
            <a:fillRect/>
          </a:stretch>
        </p:blipFill>
        <p:spPr>
          <a:xfrm>
            <a:off x="616306" y="1151038"/>
            <a:ext cx="6713829" cy="361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514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43840"/>
            <a:ext cx="12192000" cy="73152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</a:rPr>
              <a:t>Analysis Summary</a:t>
            </a:r>
            <a:endParaRPr lang="en-US" sz="2933" dirty="0"/>
          </a:p>
        </p:txBody>
      </p:sp>
      <p:sp>
        <p:nvSpPr>
          <p:cNvPr id="4" name="Shape 1"/>
          <p:cNvSpPr/>
          <p:nvPr/>
        </p:nvSpPr>
        <p:spPr>
          <a:xfrm>
            <a:off x="365760" y="1280160"/>
            <a:ext cx="11460480" cy="1121664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365760" y="1280160"/>
            <a:ext cx="97536" cy="1121664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70560" y="1341120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0C2FF"/>
                </a:solidFill>
              </a:rPr>
              <a:t>ZAP — External Scan</a:t>
            </a:r>
            <a:endParaRPr lang="en-US" sz="1733" dirty="0"/>
          </a:p>
        </p:txBody>
      </p:sp>
      <p:sp>
        <p:nvSpPr>
          <p:cNvPr id="7" name="Text 4"/>
          <p:cNvSpPr/>
          <p:nvPr/>
        </p:nvSpPr>
        <p:spPr>
          <a:xfrm>
            <a:off x="670560" y="1743456"/>
            <a:ext cx="10485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B8D4E8"/>
                </a:solidFill>
              </a:rPr>
              <a:t>Identifies HTTP-layer vulnerabilities including missing headers and configuration gaps from an external attacker's perspective</a:t>
            </a:r>
            <a:endParaRPr lang="en-US" sz="1533" dirty="0"/>
          </a:p>
        </p:txBody>
      </p:sp>
      <p:sp>
        <p:nvSpPr>
          <p:cNvPr id="8" name="Shape 5"/>
          <p:cNvSpPr/>
          <p:nvPr/>
        </p:nvSpPr>
        <p:spPr>
          <a:xfrm>
            <a:off x="365760" y="2621280"/>
            <a:ext cx="11460480" cy="1121664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2621280"/>
            <a:ext cx="97536" cy="1121664"/>
          </a:xfrm>
          <a:prstGeom prst="rect">
            <a:avLst/>
          </a:prstGeom>
          <a:solidFill>
            <a:srgbClr val="00FF9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70560" y="2682240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0FF9F"/>
                </a:solidFill>
              </a:rPr>
              <a:t>Wordfence — Internal Defense</a:t>
            </a:r>
            <a:endParaRPr lang="en-US" sz="1733" dirty="0"/>
          </a:p>
        </p:txBody>
      </p:sp>
      <p:sp>
        <p:nvSpPr>
          <p:cNvPr id="11" name="Text 8"/>
          <p:cNvSpPr/>
          <p:nvPr/>
        </p:nvSpPr>
        <p:spPr>
          <a:xfrm>
            <a:off x="670560" y="3084576"/>
            <a:ext cx="10485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B8D4E8"/>
                </a:solidFill>
              </a:rPr>
              <a:t>Provides runtime protection via firewall rules, malware scanning, and brute-force prevention from within WordPress</a:t>
            </a:r>
            <a:endParaRPr lang="en-US" sz="1533" dirty="0"/>
          </a:p>
        </p:txBody>
      </p:sp>
      <p:sp>
        <p:nvSpPr>
          <p:cNvPr id="12" name="Shape 9"/>
          <p:cNvSpPr/>
          <p:nvPr/>
        </p:nvSpPr>
        <p:spPr>
          <a:xfrm>
            <a:off x="365760" y="3962400"/>
            <a:ext cx="11460480" cy="1121664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" y="3962400"/>
            <a:ext cx="97536" cy="1121664"/>
          </a:xfrm>
          <a:prstGeom prst="rect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70560" y="4023360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5B8DEF"/>
                </a:solidFill>
              </a:rPr>
              <a:t>Layered Security</a:t>
            </a:r>
            <a:endParaRPr lang="en-US" sz="1733" dirty="0"/>
          </a:p>
        </p:txBody>
      </p:sp>
      <p:sp>
        <p:nvSpPr>
          <p:cNvPr id="15" name="Text 12"/>
          <p:cNvSpPr/>
          <p:nvPr/>
        </p:nvSpPr>
        <p:spPr>
          <a:xfrm>
            <a:off x="670560" y="4425696"/>
            <a:ext cx="10485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B8D4E8"/>
                </a:solidFill>
              </a:rPr>
              <a:t>Combining both tools implements a defense-in-depth strategy addressing both external and internal attack vectors</a:t>
            </a:r>
            <a:endParaRPr lang="en-US" sz="1533" dirty="0"/>
          </a:p>
        </p:txBody>
      </p:sp>
      <p:sp>
        <p:nvSpPr>
          <p:cNvPr id="16" name="Shape 13"/>
          <p:cNvSpPr/>
          <p:nvPr/>
        </p:nvSpPr>
        <p:spPr>
          <a:xfrm>
            <a:off x="365760" y="5303520"/>
            <a:ext cx="11460480" cy="1121664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65760" y="5303520"/>
            <a:ext cx="97536" cy="1121664"/>
          </a:xfrm>
          <a:prstGeom prst="rect">
            <a:avLst/>
          </a:prstGeom>
          <a:solidFill>
            <a:srgbClr val="FFA5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70560" y="5364480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A502"/>
                </a:solidFill>
              </a:rPr>
              <a:t>Current Security Posture</a:t>
            </a:r>
            <a:endParaRPr lang="en-US" sz="1733" dirty="0"/>
          </a:p>
        </p:txBody>
      </p:sp>
      <p:sp>
        <p:nvSpPr>
          <p:cNvPr id="19" name="Text 16"/>
          <p:cNvSpPr/>
          <p:nvPr/>
        </p:nvSpPr>
        <p:spPr>
          <a:xfrm>
            <a:off x="670560" y="5766816"/>
            <a:ext cx="10485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B8D4E8"/>
                </a:solidFill>
              </a:rPr>
              <a:t>System is partially secured — brute-force protection is strong (100%), but firewall coverage (35%) and scan coverage (~65%) need improvement</a:t>
            </a:r>
            <a:endParaRPr lang="en-US" sz="1533" dirty="0"/>
          </a:p>
        </p:txBody>
      </p:sp>
    </p:spTree>
    <p:extLst>
      <p:ext uri="{BB962C8B-B14F-4D97-AF65-F5344CB8AC3E}">
        <p14:creationId xmlns:p14="http://schemas.microsoft.com/office/powerpoint/2010/main" val="1854845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43840"/>
            <a:ext cx="12192000" cy="73152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</a:rPr>
              <a:t>Recommendations</a:t>
            </a:r>
            <a:endParaRPr lang="en-US" sz="2933" dirty="0"/>
          </a:p>
        </p:txBody>
      </p:sp>
      <p:sp>
        <p:nvSpPr>
          <p:cNvPr id="3" name="Shape 1"/>
          <p:cNvSpPr/>
          <p:nvPr/>
        </p:nvSpPr>
        <p:spPr>
          <a:xfrm>
            <a:off x="304800" y="1194816"/>
            <a:ext cx="3657600" cy="243840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04800" y="1194816"/>
            <a:ext cx="3657600" cy="85344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1104" y="1316736"/>
            <a:ext cx="670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0C2FF"/>
                </a:solidFill>
              </a:rPr>
              <a:t>01</a:t>
            </a:r>
            <a:endParaRPr lang="en-US" sz="1867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6496" y="1292352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1104" y="180441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Enforce HTTPS &amp; HSTS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1104" y="2353056"/>
            <a:ext cx="335280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8D4E8"/>
                </a:solidFill>
              </a:rPr>
              <a:t>Redirect all HTTP traffic to HTTPS and set HSTS headers to prevent downgrade attacks</a:t>
            </a:r>
            <a:endParaRPr lang="en-US" sz="1333" dirty="0"/>
          </a:p>
        </p:txBody>
      </p:sp>
      <p:sp>
        <p:nvSpPr>
          <p:cNvPr id="9" name="Shape 6"/>
          <p:cNvSpPr/>
          <p:nvPr/>
        </p:nvSpPr>
        <p:spPr>
          <a:xfrm>
            <a:off x="4230624" y="1194816"/>
            <a:ext cx="3657600" cy="243840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230624" y="1194816"/>
            <a:ext cx="3657600" cy="85344"/>
          </a:xfrm>
          <a:prstGeom prst="rect">
            <a:avLst/>
          </a:prstGeom>
          <a:solidFill>
            <a:srgbClr val="00FF9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376928" y="1316736"/>
            <a:ext cx="670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0FF9F"/>
                </a:solidFill>
              </a:rPr>
              <a:t>02</a:t>
            </a:r>
            <a:endParaRPr lang="en-US" sz="1867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292352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76928" y="180441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Configure Security Headers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376928" y="2353056"/>
            <a:ext cx="335280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8D4E8"/>
                </a:solidFill>
              </a:rPr>
              <a:t>Add CSP, X-Frame-Options, and X-Content-Type-Options headers via .htaccess or plugin</a:t>
            </a:r>
            <a:endParaRPr lang="en-US" sz="1333" dirty="0"/>
          </a:p>
        </p:txBody>
      </p:sp>
      <p:sp>
        <p:nvSpPr>
          <p:cNvPr id="15" name="Shape 11"/>
          <p:cNvSpPr/>
          <p:nvPr/>
        </p:nvSpPr>
        <p:spPr>
          <a:xfrm>
            <a:off x="8156448" y="1194816"/>
            <a:ext cx="3657600" cy="243840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156448" y="1194816"/>
            <a:ext cx="3657600" cy="85344"/>
          </a:xfrm>
          <a:prstGeom prst="rect">
            <a:avLst/>
          </a:prstGeom>
          <a:solidFill>
            <a:srgbClr val="FFA5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8302752" y="1316736"/>
            <a:ext cx="670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FA502"/>
                </a:solidFill>
              </a:rPr>
              <a:t>03</a:t>
            </a:r>
            <a:endParaRPr lang="en-US" sz="1867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0" y="1365504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02752" y="180441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Update All Plugins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302752" y="2353056"/>
            <a:ext cx="335280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8D4E8"/>
                </a:solidFill>
              </a:rPr>
              <a:t>Regularly update the 4 outdated plugins — known CVEs in outdated plugins are a top attack vector</a:t>
            </a:r>
            <a:endParaRPr lang="en-US" sz="1333" dirty="0"/>
          </a:p>
        </p:txBody>
      </p:sp>
      <p:sp>
        <p:nvSpPr>
          <p:cNvPr id="21" name="Shape 16"/>
          <p:cNvSpPr/>
          <p:nvPr/>
        </p:nvSpPr>
        <p:spPr>
          <a:xfrm>
            <a:off x="304800" y="3998976"/>
            <a:ext cx="3657600" cy="243840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304800" y="3998976"/>
            <a:ext cx="3657600" cy="85344"/>
          </a:xfrm>
          <a:prstGeom prst="rect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451104" y="4120896"/>
            <a:ext cx="670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5B8DEF"/>
                </a:solidFill>
              </a:rPr>
              <a:t>04</a:t>
            </a:r>
            <a:endParaRPr lang="en-US" sz="1867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6496" y="4096512"/>
            <a:ext cx="512064" cy="5120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51104" y="460857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Improve Firewall Config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451104" y="5157216"/>
            <a:ext cx="335280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8D4E8"/>
                </a:solidFill>
              </a:rPr>
              <a:t>Upgrade Wordfence firewall from 35% to full extended protection mode</a:t>
            </a:r>
            <a:endParaRPr lang="en-US" sz="1333" dirty="0"/>
          </a:p>
        </p:txBody>
      </p:sp>
      <p:sp>
        <p:nvSpPr>
          <p:cNvPr id="27" name="Shape 21"/>
          <p:cNvSpPr/>
          <p:nvPr/>
        </p:nvSpPr>
        <p:spPr>
          <a:xfrm>
            <a:off x="4230624" y="3998976"/>
            <a:ext cx="3657600" cy="243840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4230624" y="3998976"/>
            <a:ext cx="3657600" cy="85344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4376928" y="4120896"/>
            <a:ext cx="670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F4757"/>
                </a:solidFill>
              </a:rPr>
              <a:t>05</a:t>
            </a:r>
            <a:endParaRPr lang="en-US" sz="1867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4096512"/>
            <a:ext cx="512064" cy="51206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376928" y="460857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Use Secure/Paid Hosting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4376928" y="5157216"/>
            <a:ext cx="335280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8D4E8"/>
                </a:solidFill>
              </a:rPr>
              <a:t>Migrate from free hosting (InfinityFree) to a reputable, hardened hosting provider</a:t>
            </a:r>
            <a:endParaRPr lang="en-US" sz="1333" dirty="0"/>
          </a:p>
        </p:txBody>
      </p:sp>
      <p:sp>
        <p:nvSpPr>
          <p:cNvPr id="33" name="Shape 26"/>
          <p:cNvSpPr/>
          <p:nvPr/>
        </p:nvSpPr>
        <p:spPr>
          <a:xfrm>
            <a:off x="8156448" y="3998976"/>
            <a:ext cx="3657600" cy="243840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8156448" y="3998976"/>
            <a:ext cx="3657600" cy="85344"/>
          </a:xfrm>
          <a:prstGeom prst="rect">
            <a:avLst/>
          </a:prstGeom>
          <a:solidFill>
            <a:srgbClr val="5A8F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8302752" y="4120896"/>
            <a:ext cx="670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5A8FAA"/>
                </a:solidFill>
              </a:rPr>
              <a:t>06</a:t>
            </a:r>
            <a:endParaRPr lang="en-US" sz="1867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58144" y="4096512"/>
            <a:ext cx="512064" cy="51206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302752" y="460857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Regular Security Scans</a:t>
            </a:r>
            <a:endParaRPr lang="en-US" sz="1600" dirty="0"/>
          </a:p>
        </p:txBody>
      </p:sp>
      <p:sp>
        <p:nvSpPr>
          <p:cNvPr id="38" name="Text 30"/>
          <p:cNvSpPr/>
          <p:nvPr/>
        </p:nvSpPr>
        <p:spPr>
          <a:xfrm>
            <a:off x="8302752" y="5157216"/>
            <a:ext cx="335280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8D4E8"/>
                </a:solidFill>
              </a:rPr>
              <a:t>Schedule weekly ZAP scans and Wordfence scans — security is a continuous process</a:t>
            </a:r>
            <a:endParaRPr lang="en-US" sz="1333" dirty="0"/>
          </a:p>
        </p:txBody>
      </p:sp>
    </p:spTree>
    <p:extLst>
      <p:ext uri="{BB962C8B-B14F-4D97-AF65-F5344CB8AC3E}">
        <p14:creationId xmlns:p14="http://schemas.microsoft.com/office/powerpoint/2010/main" val="3086879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243840"/>
            <a:ext cx="12192000" cy="73152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</a:rPr>
              <a:t>Conclusion</a:t>
            </a:r>
            <a:endParaRPr lang="en-US" sz="293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3958" y="243840"/>
            <a:ext cx="1219200" cy="6766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280160"/>
            <a:ext cx="11094720" cy="914400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65760" y="1280160"/>
            <a:ext cx="97536" cy="914400"/>
          </a:xfrm>
          <a:prstGeom prst="rect">
            <a:avLst/>
          </a:prstGeom>
          <a:solidFill>
            <a:srgbClr val="00FF9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84" y="1450848"/>
            <a:ext cx="512064" cy="5120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41120" y="1426464"/>
            <a:ext cx="987552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B8D4E8"/>
                </a:solidFill>
              </a:rPr>
              <a:t>Successfully designed, deployed, and analyzed a live WordPress WooCommerce application</a:t>
            </a:r>
            <a:endParaRPr lang="en-US" sz="1667" dirty="0"/>
          </a:p>
        </p:txBody>
      </p:sp>
      <p:sp>
        <p:nvSpPr>
          <p:cNvPr id="9" name="Shape 5"/>
          <p:cNvSpPr/>
          <p:nvPr/>
        </p:nvSpPr>
        <p:spPr>
          <a:xfrm>
            <a:off x="365760" y="2401824"/>
            <a:ext cx="11094720" cy="914400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365760" y="2401824"/>
            <a:ext cx="97536" cy="914400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84" y="2572512"/>
            <a:ext cx="512064" cy="5120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41120" y="2548128"/>
            <a:ext cx="987552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B8D4E8"/>
                </a:solidFill>
              </a:rPr>
              <a:t>Identified configuration-based vulnerabilities using OWASP ZAP (9 alerts) and Wordfence</a:t>
            </a:r>
            <a:endParaRPr lang="en-US" sz="1667" dirty="0"/>
          </a:p>
        </p:txBody>
      </p:sp>
      <p:sp>
        <p:nvSpPr>
          <p:cNvPr id="13" name="Shape 8"/>
          <p:cNvSpPr/>
          <p:nvPr/>
        </p:nvSpPr>
        <p:spPr>
          <a:xfrm>
            <a:off x="365760" y="3523488"/>
            <a:ext cx="11094720" cy="914400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365760" y="3523488"/>
            <a:ext cx="97536" cy="914400"/>
          </a:xfrm>
          <a:prstGeom prst="rect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984" y="3694176"/>
            <a:ext cx="512064" cy="51206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41120" y="3669792"/>
            <a:ext cx="987552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B8D4E8"/>
                </a:solidFill>
              </a:rPr>
              <a:t>Implemented layered security through Wordfence with 100% brute-force protection</a:t>
            </a:r>
            <a:endParaRPr lang="en-US" sz="1667" dirty="0"/>
          </a:p>
        </p:txBody>
      </p:sp>
      <p:sp>
        <p:nvSpPr>
          <p:cNvPr id="17" name="Shape 11"/>
          <p:cNvSpPr/>
          <p:nvPr/>
        </p:nvSpPr>
        <p:spPr>
          <a:xfrm>
            <a:off x="365760" y="4645152"/>
            <a:ext cx="11094720" cy="914400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365760" y="4645152"/>
            <a:ext cx="97536" cy="914400"/>
          </a:xfrm>
          <a:prstGeom prst="rect">
            <a:avLst/>
          </a:prstGeom>
          <a:solidFill>
            <a:srgbClr val="FFA50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984" y="4815840"/>
            <a:ext cx="512064" cy="51206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41120" y="4791456"/>
            <a:ext cx="987552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B8D4E8"/>
                </a:solidFill>
              </a:rPr>
              <a:t>System is moderately secure — firewall and scan coverage requires improvement</a:t>
            </a:r>
            <a:endParaRPr lang="en-US" sz="1667" dirty="0"/>
          </a:p>
        </p:txBody>
      </p:sp>
      <p:sp>
        <p:nvSpPr>
          <p:cNvPr id="21" name="Shape 14"/>
          <p:cNvSpPr/>
          <p:nvPr/>
        </p:nvSpPr>
        <p:spPr>
          <a:xfrm>
            <a:off x="365760" y="5766816"/>
            <a:ext cx="11094720" cy="914400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5"/>
          <p:cNvSpPr/>
          <p:nvPr/>
        </p:nvSpPr>
        <p:spPr>
          <a:xfrm>
            <a:off x="365760" y="5766816"/>
            <a:ext cx="97536" cy="91440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984" y="5937504"/>
            <a:ext cx="512064" cy="51206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341120" y="5913120"/>
            <a:ext cx="987552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B8D4E8"/>
                </a:solidFill>
              </a:rPr>
              <a:t>Security is not a destination but a continuous process — regular audits are essential</a:t>
            </a:r>
            <a:endParaRPr lang="en-US" sz="1667" dirty="0"/>
          </a:p>
        </p:txBody>
      </p:sp>
      <p:sp>
        <p:nvSpPr>
          <p:cNvPr id="25" name="Shape 17"/>
          <p:cNvSpPr/>
          <p:nvPr/>
        </p:nvSpPr>
        <p:spPr>
          <a:xfrm>
            <a:off x="0" y="6809232"/>
            <a:ext cx="12192000" cy="4876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096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826" y="243840"/>
            <a:ext cx="12123174" cy="73152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>
                <a:solidFill>
                  <a:srgbClr val="FFFFFF"/>
                </a:solidFill>
              </a:rPr>
              <a:t>References</a:t>
            </a:r>
            <a:endParaRPr lang="en-US" sz="2933"/>
          </a:p>
        </p:txBody>
      </p:sp>
      <p:sp>
        <p:nvSpPr>
          <p:cNvPr id="19" name="Text 14"/>
          <p:cNvSpPr/>
          <p:nvPr/>
        </p:nvSpPr>
        <p:spPr>
          <a:xfrm>
            <a:off x="2011680" y="3462528"/>
            <a:ext cx="792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FFFFFF"/>
                </a:solidFill>
              </a:rPr>
              <a:t>OWASP ZAP Documentation</a:t>
            </a:r>
            <a:endParaRPr lang="en-US" sz="1867"/>
          </a:p>
        </p:txBody>
      </p:sp>
      <p:sp>
        <p:nvSpPr>
          <p:cNvPr id="25" name="Text 19"/>
          <p:cNvSpPr/>
          <p:nvPr/>
        </p:nvSpPr>
        <p:spPr>
          <a:xfrm>
            <a:off x="2011680" y="4523232"/>
            <a:ext cx="792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FFFFFF"/>
                </a:solidFill>
              </a:rPr>
              <a:t>Wordfence Documentation</a:t>
            </a:r>
            <a:endParaRPr lang="en-US" sz="1867"/>
          </a:p>
        </p:txBody>
      </p:sp>
      <p:sp>
        <p:nvSpPr>
          <p:cNvPr id="31" name="Text 24"/>
          <p:cNvSpPr/>
          <p:nvPr/>
        </p:nvSpPr>
        <p:spPr>
          <a:xfrm>
            <a:off x="2011680" y="5583936"/>
            <a:ext cx="792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FFFFFF"/>
                </a:solidFill>
              </a:rPr>
              <a:t>OWASP Top 10</a:t>
            </a:r>
            <a:endParaRPr lang="en-US" sz="1867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6ECF5C4-2E7B-BB1F-BA90-13DB61C9A164}"/>
              </a:ext>
            </a:extLst>
          </p:cNvPr>
          <p:cNvSpPr/>
          <p:nvPr/>
        </p:nvSpPr>
        <p:spPr>
          <a:xfrm>
            <a:off x="68826" y="1131496"/>
            <a:ext cx="12054348" cy="546673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dk1">
              <a:shade val="15000"/>
            </a:schemeClr>
          </a:lnRef>
          <a:fillRef idx="1002">
            <a:schemeClr val="dk2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/>
              <a:t>1) </a:t>
            </a: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WordPress Documentation. </a:t>
            </a:r>
            <a:r>
              <a:rPr lang="en-US" sz="1600" i="1">
                <a:solidFill>
                  <a:schemeClr val="bg1"/>
                </a:solidFill>
                <a:ea typeface="+mn-lt"/>
                <a:cs typeface="+mn-lt"/>
              </a:rPr>
              <a:t>Security Best Practices</a:t>
            </a:r>
            <a:br>
              <a:rPr lang="en-US" sz="1600" i="1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sz="1600" i="1">
                <a:solidFill>
                  <a:schemeClr val="bg1"/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https://wordpress.org/support/article/hardening-wordpress/</a:t>
            </a:r>
            <a:endParaRPr lang="en-US" sz="1600">
              <a:solidFill>
                <a:schemeClr val="bg1"/>
              </a:solidFill>
            </a:endParaRPr>
          </a:p>
          <a:p>
            <a:endParaRPr lang="en-US" sz="1600"/>
          </a:p>
          <a:p>
            <a:r>
              <a:rPr lang="en-US" sz="1600"/>
              <a:t>2) </a:t>
            </a: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WooCommerce Docs. </a:t>
            </a:r>
            <a:r>
              <a:rPr lang="en-US" sz="1600" i="1">
                <a:solidFill>
                  <a:schemeClr val="bg1"/>
                </a:solidFill>
                <a:ea typeface="+mn-lt"/>
                <a:cs typeface="+mn-lt"/>
              </a:rPr>
              <a:t>Security &amp; Payment Gateway Integration</a:t>
            </a:r>
            <a:br>
              <a:rPr lang="en-US" sz="1600" i="1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sz="1600" i="1">
                <a:solidFill>
                  <a:schemeClr val="bg1"/>
                </a:solidFill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https://woocommerce.com/document/</a:t>
            </a:r>
            <a:endParaRPr lang="en-US" sz="1600">
              <a:solidFill>
                <a:schemeClr val="bg1"/>
              </a:solidFill>
            </a:endParaRPr>
          </a:p>
          <a:p>
            <a:endParaRPr lang="en-US" sz="1600"/>
          </a:p>
          <a:p>
            <a:r>
              <a:rPr lang="en-US" sz="1600"/>
              <a:t>3) </a:t>
            </a:r>
            <a:r>
              <a:rPr lang="pl-PL" sz="1600">
                <a:solidFill>
                  <a:schemeClr val="bg1"/>
                </a:solidFill>
              </a:rPr>
              <a:t>OWASP ZAP Documentation</a:t>
            </a:r>
            <a:br>
              <a:rPr lang="pl-PL" sz="1600">
                <a:solidFill>
                  <a:schemeClr val="bg1"/>
                </a:solidFill>
              </a:rPr>
            </a:br>
            <a:r>
              <a:rPr lang="pl-PL" sz="160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https://www.zaproxy.org/docs/</a:t>
            </a:r>
            <a:endParaRPr lang="en-US" sz="1600">
              <a:solidFill>
                <a:schemeClr val="bg1"/>
              </a:solidFill>
            </a:endParaRPr>
          </a:p>
          <a:p>
            <a:endParaRPr lang="en-US" sz="1600">
              <a:solidFill>
                <a:schemeClr val="bg1"/>
              </a:solidFill>
            </a:endParaRPr>
          </a:p>
          <a:p>
            <a:r>
              <a:rPr lang="en-US" sz="1600"/>
              <a:t>4</a:t>
            </a:r>
            <a:r>
              <a:rPr lang="en-US" sz="1600">
                <a:solidFill>
                  <a:schemeClr val="bg1"/>
                </a:solidFill>
              </a:rPr>
              <a:t>) </a:t>
            </a:r>
            <a:r>
              <a:rPr lang="en-US" sz="1600" err="1">
                <a:solidFill>
                  <a:schemeClr val="bg1"/>
                </a:solidFill>
              </a:rPr>
              <a:t>Wordfence</a:t>
            </a:r>
            <a:r>
              <a:rPr lang="en-US" sz="1600">
                <a:solidFill>
                  <a:schemeClr val="bg1"/>
                </a:solidFill>
              </a:rPr>
              <a:t> Security Documentation</a:t>
            </a:r>
            <a:br>
              <a:rPr lang="en-US" sz="1600">
                <a:solidFill>
                  <a:schemeClr val="bg1"/>
                </a:solidFill>
              </a:rPr>
            </a:br>
            <a:r>
              <a:rPr lang="en-US" sz="160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https://www.wordfence.com/help/</a:t>
            </a:r>
            <a:endParaRPr lang="en-US" sz="1600">
              <a:solidFill>
                <a:schemeClr val="bg1"/>
              </a:solidFill>
            </a:endParaRPr>
          </a:p>
          <a:p>
            <a:endParaRPr lang="en-US" sz="1600">
              <a:solidFill>
                <a:schemeClr val="bg1"/>
              </a:solidFill>
            </a:endParaRPr>
          </a:p>
          <a:p>
            <a:r>
              <a:rPr lang="en-US" sz="1600">
                <a:solidFill>
                  <a:schemeClr val="bg1"/>
                </a:solidFill>
              </a:rPr>
              <a:t>5) </a:t>
            </a:r>
            <a:r>
              <a:rPr lang="it-IT" sz="1600">
                <a:solidFill>
                  <a:schemeClr val="bg1"/>
                </a:solidFill>
              </a:rPr>
              <a:t>WP 2FA Plugin Documentation</a:t>
            </a:r>
            <a:br>
              <a:rPr lang="it-IT" sz="1600">
                <a:solidFill>
                  <a:schemeClr val="bg1"/>
                </a:solidFill>
              </a:rPr>
            </a:br>
            <a:r>
              <a:rPr lang="it-IT" sz="160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https://wp-2fa.com/documentation/</a:t>
            </a:r>
            <a:endParaRPr lang="it-IT" sz="1600">
              <a:solidFill>
                <a:schemeClr val="bg1"/>
              </a:solidFill>
            </a:endParaRPr>
          </a:p>
          <a:p>
            <a:endParaRPr lang="en-US" sz="1600">
              <a:solidFill>
                <a:schemeClr val="bg1"/>
              </a:solidFill>
            </a:endParaRPr>
          </a:p>
          <a:p>
            <a:r>
              <a:rPr lang="en-US" sz="1600">
                <a:solidFill>
                  <a:schemeClr val="bg1"/>
                </a:solidFill>
              </a:rPr>
              <a:t>6) OWASP Top 10 Security Risks</a:t>
            </a:r>
            <a:br>
              <a:rPr lang="en-US" sz="1600">
                <a:solidFill>
                  <a:schemeClr val="bg1"/>
                </a:solidFill>
              </a:rPr>
            </a:br>
            <a:r>
              <a:rPr lang="en-US" sz="1600">
                <a:solidFill>
                  <a:schemeClr val="bg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https://owasp.org/www-project-top-ten/</a:t>
            </a:r>
            <a:endParaRPr lang="en-US" sz="1600">
              <a:solidFill>
                <a:schemeClr val="bg1"/>
              </a:solidFill>
            </a:endParaRPr>
          </a:p>
          <a:p>
            <a:endParaRPr lang="en-US" sz="1600">
              <a:solidFill>
                <a:schemeClr val="bg1"/>
              </a:solidFill>
            </a:endParaRPr>
          </a:p>
          <a:p>
            <a:r>
              <a:rPr lang="en-US" sz="1600">
                <a:solidFill>
                  <a:schemeClr val="bg1"/>
                </a:solidFill>
              </a:rPr>
              <a:t>7) </a:t>
            </a:r>
            <a:r>
              <a:rPr lang="en-US" sz="1600" err="1">
                <a:solidFill>
                  <a:schemeClr val="bg1"/>
                </a:solidFill>
              </a:rPr>
              <a:t>InfinityFree</a:t>
            </a:r>
            <a:r>
              <a:rPr lang="en-US" sz="1600">
                <a:solidFill>
                  <a:schemeClr val="bg1"/>
                </a:solidFill>
              </a:rPr>
              <a:t> Hosting Documentation</a:t>
            </a:r>
            <a:br>
              <a:rPr lang="en-US" sz="1600">
                <a:solidFill>
                  <a:schemeClr val="bg1"/>
                </a:solidFill>
              </a:rPr>
            </a:br>
            <a:r>
              <a:rPr lang="en-US" sz="1600">
                <a:solidFill>
                  <a:schemeClr val="bg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https://forum.infinityfree.com/</a:t>
            </a:r>
            <a:endParaRPr 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525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26720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0" y="853440"/>
            <a:ext cx="48768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466">
                <a:solidFill>
                  <a:srgbClr val="000000"/>
                </a:solidFill>
              </a:rPr>
              <a:t>🙏</a:t>
            </a:r>
            <a:endParaRPr lang="en-US" sz="7466"/>
          </a:p>
        </p:txBody>
      </p:sp>
      <p:sp>
        <p:nvSpPr>
          <p:cNvPr id="6" name="Text 4"/>
          <p:cNvSpPr/>
          <p:nvPr/>
        </p:nvSpPr>
        <p:spPr>
          <a:xfrm>
            <a:off x="609600" y="2194560"/>
            <a:ext cx="109728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400"/>
          </a:p>
        </p:txBody>
      </p:sp>
      <p:sp>
        <p:nvSpPr>
          <p:cNvPr id="7" name="Text 5"/>
          <p:cNvSpPr/>
          <p:nvPr/>
        </p:nvSpPr>
        <p:spPr>
          <a:xfrm>
            <a:off x="609600" y="323088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attention</a:t>
            </a:r>
            <a:endParaRPr lang="en-US" sz="2933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0" y="4023360"/>
            <a:ext cx="4876800" cy="6096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09600" y="4267200"/>
            <a:ext cx="109728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733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3733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600" y="548640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Art &amp; Print Store  </a:t>
            </a:r>
            <a:endParaRPr lang="en-US" sz="14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757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749</Words>
  <Application>Microsoft Office PowerPoint</Application>
  <PresentationFormat>Widescreen</PresentationFormat>
  <Paragraphs>186</Paragraphs>
  <Slides>16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Denish Adhikari</dc:creator>
  <cp:lastModifiedBy>Denish Adhikari</cp:lastModifiedBy>
  <cp:revision>476</cp:revision>
  <dcterms:created xsi:type="dcterms:W3CDTF">2026-04-13T00:07:58Z</dcterms:created>
  <dcterms:modified xsi:type="dcterms:W3CDTF">2026-04-29T03:55:13Z</dcterms:modified>
</cp:coreProperties>
</file>